
<file path=[Content_Types].xml><?xml version="1.0" encoding="utf-8"?>
<Types xmlns="http://schemas.openxmlformats.org/package/2006/content-types">
  <Default Extension="bin" ContentType="image/unknown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4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26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18" Type="http://schemas.openxmlformats.org/officeDocument/2006/relationships/image" Target="../media/image2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19" Type="http://schemas.openxmlformats.org/officeDocument/2006/relationships/image" Target="../media/image30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11" Type="http://schemas.openxmlformats.org/officeDocument/2006/relationships/image" Target="../media/image76.svg"/><Relationship Id="rId5" Type="http://schemas.openxmlformats.org/officeDocument/2006/relationships/image" Target="../media/image70.sv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8.svg"/><Relationship Id="rId3" Type="http://schemas.openxmlformats.org/officeDocument/2006/relationships/image" Target="../media/image88.svg"/><Relationship Id="rId7" Type="http://schemas.openxmlformats.org/officeDocument/2006/relationships/image" Target="../media/image92.svg"/><Relationship Id="rId12" Type="http://schemas.openxmlformats.org/officeDocument/2006/relationships/image" Target="../media/image9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svg"/><Relationship Id="rId11" Type="http://schemas.openxmlformats.org/officeDocument/2006/relationships/image" Target="../media/image96.svg"/><Relationship Id="rId5" Type="http://schemas.openxmlformats.org/officeDocument/2006/relationships/image" Target="../media/image90.sv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svg"/><Relationship Id="rId5" Type="http://schemas.openxmlformats.org/officeDocument/2006/relationships/image" Target="../media/image101.svg"/><Relationship Id="rId4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60000">
                <a:srgbClr val="FFFFFF">
                  <a:alpha val="88000"/>
                </a:srgbClr>
              </a:gs>
              <a:gs pos="100000">
                <a:srgbClr val="F2F5F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2B5EA7"/>
              </a:gs>
              <a:gs pos="100000">
                <a:srgbClr val="1A27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429220"/>
            <a:ext cx="29170" cy="342900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82818" y="400050"/>
            <a:ext cx="8686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4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571500" y="1651843"/>
            <a:ext cx="88011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7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STRATEGY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571500" y="1924794"/>
            <a:ext cx="6193176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2"/>
              </a:lnSpc>
              <a:spcAft>
                <a:spcPts val="1350"/>
              </a:spcAft>
              <a:buNone/>
            </a:pPr>
            <a:r>
              <a:rPr lang="en-US" sz="2930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Reimagining City Operations</a:t>
            </a:r>
            <a:br/>
            <a:r>
              <a:rPr lang="en-US" sz="2930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</a:t>
            </a:r>
            <a:r>
              <a:rPr lang="en-US" sz="293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</a:t>
            </a:r>
            <a:endParaRPr lang="en-US" sz="2930" dirty="0"/>
          </a:p>
        </p:txBody>
      </p:sp>
      <p:sp>
        <p:nvSpPr>
          <p:cNvPr id="9" name="Text 6"/>
          <p:cNvSpPr/>
          <p:nvPr/>
        </p:nvSpPr>
        <p:spPr>
          <a:xfrm>
            <a:off x="571500" y="2929682"/>
            <a:ext cx="457200" cy="21580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1500" y="3122712"/>
            <a:ext cx="880110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spcAft>
                <a:spcPts val="450"/>
              </a:spcAft>
              <a:buNone/>
            </a:pPr>
            <a:r>
              <a:rPr lang="en-US" sz="1130" kern="0" spc="1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 Haven UrbanPulse Analytics Transformation Proposal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571500" y="3395067"/>
            <a:ext cx="88011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Service Delivery to Predictive Urban Intelligence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0" y="4629150"/>
            <a:ext cx="9144000" cy="514350"/>
          </a:xfrm>
          <a:prstGeom prst="rect">
            <a:avLst/>
          </a:prstGeom>
          <a:gradFill rotWithShape="1">
            <a:gsLst>
              <a:gs pos="0">
                <a:srgbClr val="1A2744"/>
              </a:gs>
              <a:gs pos="100000">
                <a:srgbClr val="223556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496" y="4819957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28911" y="4806255"/>
            <a:ext cx="22141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$20M–$35M Annual Value Opportunity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3827562" y="4772025"/>
            <a:ext cx="759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8409" y="481995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14825" y="4806255"/>
            <a:ext cx="59214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7–12x ROI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5138886" y="4772025"/>
            <a:ext cx="759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9734" y="4819957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6150" y="4806255"/>
            <a:ext cx="240114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Long-Term AI Partnership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95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00050" y="529382"/>
            <a:ext cx="8927973" cy="286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4"/>
              </a:lnSpc>
              <a:spcBef>
                <a:spcPts val="340"/>
              </a:spcBef>
              <a:buNone/>
            </a:pPr>
            <a:r>
              <a:rPr lang="en-US" sz="1910" kern="0" spc="-2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 Haven's Scale Creates Urgency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00050" y="915888"/>
            <a:ext cx="386060" cy="25301"/>
          </a:xfrm>
          <a:prstGeom prst="roundRect">
            <a:avLst>
              <a:gd name="adj" fmla="val 55215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141809"/>
            <a:ext cx="2685604" cy="1126331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1141809"/>
            <a:ext cx="2685604" cy="1905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8191" y="1318320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703" y="138783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8191" y="1647081"/>
            <a:ext cx="66357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8.3M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28191" y="2004566"/>
            <a:ext cx="921693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820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229124" y="1141809"/>
            <a:ext cx="2685604" cy="1126331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29124" y="1141809"/>
            <a:ext cx="2685604" cy="1905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57265" y="1318320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777" y="1387831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7265" y="1647081"/>
            <a:ext cx="66357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3.4M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3357265" y="2004566"/>
            <a:ext cx="1198855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820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311 Complaints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058198" y="1141809"/>
            <a:ext cx="2685752" cy="1126331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058198" y="1141809"/>
            <a:ext cx="2685752" cy="19050"/>
          </a:xfrm>
          <a:custGeom>
            <a:avLst/>
            <a:gdLst/>
            <a:ahLst/>
            <a:cxnLst/>
            <a:rect l="l" t="t" r="r" b="b"/>
            <a:pathLst>
              <a:path w="268575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3076" y="19050"/>
                </a:lnTo>
                <a:lnTo>
                  <a:pt x="2660383" y="16669"/>
                </a:lnTo>
                <a:lnTo>
                  <a:pt x="2657389" y="14288"/>
                </a:lnTo>
                <a:lnTo>
                  <a:pt x="2654025" y="11906"/>
                </a:lnTo>
                <a:lnTo>
                  <a:pt x="2650187" y="9525"/>
                </a:lnTo>
                <a:lnTo>
                  <a:pt x="2645698" y="7144"/>
                </a:lnTo>
                <a:lnTo>
                  <a:pt x="2640220" y="4763"/>
                </a:lnTo>
                <a:lnTo>
                  <a:pt x="2632882" y="2381"/>
                </a:lnTo>
                <a:lnTo>
                  <a:pt x="2614632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186339" y="1318320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5850" y="1387831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86339" y="1647081"/>
            <a:ext cx="8892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250K+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6186339" y="2004566"/>
            <a:ext cx="1301993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820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Incidents Per Year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400050" y="2382441"/>
            <a:ext cx="2685604" cy="1126331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00050" y="2382441"/>
            <a:ext cx="2685604" cy="1905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28191" y="255895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703" y="2628462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8191" y="2887712"/>
            <a:ext cx="108908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$100M+</a:t>
            </a:r>
            <a:endParaRPr lang="en-US" sz="2250" dirty="0"/>
          </a:p>
        </p:txBody>
      </p:sp>
      <p:sp>
        <p:nvSpPr>
          <p:cNvPr id="28" name="Text 22"/>
          <p:cNvSpPr/>
          <p:nvPr/>
        </p:nvSpPr>
        <p:spPr>
          <a:xfrm>
            <a:off x="528191" y="3245197"/>
            <a:ext cx="1538883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820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Pothole Repair Spend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3229124" y="2382441"/>
            <a:ext cx="2685604" cy="1126331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229124" y="2382441"/>
            <a:ext cx="2685604" cy="1905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357265" y="255895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6777" y="2628462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57265" y="2887712"/>
            <a:ext cx="7486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$15M</a:t>
            </a:r>
            <a:endParaRPr lang="en-US" sz="2250" dirty="0"/>
          </a:p>
        </p:txBody>
      </p:sp>
      <p:sp>
        <p:nvSpPr>
          <p:cNvPr id="34" name="Text 27"/>
          <p:cNvSpPr/>
          <p:nvPr/>
        </p:nvSpPr>
        <p:spPr>
          <a:xfrm>
            <a:off x="3357265" y="3245197"/>
            <a:ext cx="1543630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820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1% Improvement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400050" y="3680222"/>
            <a:ext cx="8510778" cy="350788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00660" tIns="92710" rIns="200660" bIns="9271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Haven generates massive operational data but lacks the intelligence to convert it into faster decisions.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00050" y="3680222"/>
            <a:ext cx="28575" cy="350788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400050" y="4543276"/>
            <a:ext cx="8343900" cy="342454"/>
          </a:xfrm>
          <a:prstGeom prst="roundRect">
            <a:avLst>
              <a:gd name="adj" fmla="val 14463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28650" y="4635847"/>
            <a:ext cx="1154906" cy="173042"/>
          </a:xfrm>
          <a:prstGeom prst="roundRect">
            <a:avLst>
              <a:gd name="adj" fmla="val 16880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620" dirty="0"/>
          </a:p>
        </p:txBody>
      </p:sp>
      <p:sp>
        <p:nvSpPr>
          <p:cNvPr id="39" name="Text 32"/>
          <p:cNvSpPr/>
          <p:nvPr/>
        </p:nvSpPr>
        <p:spPr>
          <a:xfrm>
            <a:off x="1869877" y="4638973"/>
            <a:ext cx="4075093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both an efficiency opportunity and a strategic city modernization program.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90525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561082"/>
            <a:ext cx="8805672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340"/>
              </a:spcAft>
              <a:buNone/>
            </a:pPr>
            <a:r>
              <a:rPr lang="en-US" sz="1910" kern="0" spc="-19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Data-Rich. Insight-Poor. </a:t>
            </a:r>
            <a:r>
              <a:rPr lang="en-US" sz="1910" kern="0" spc="-19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Operationally Constrained.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57200" y="883146"/>
            <a:ext cx="5246370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1800"/>
              </a:spcAft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Haven's operational systems generate vast data — but the absence of intelligence layers means critical decisions are slow, manual, and reactive.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1412677"/>
            <a:ext cx="4043065" cy="1341388"/>
          </a:xfrm>
          <a:prstGeom prst="roundRect">
            <a:avLst>
              <a:gd name="adj" fmla="val 4261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12677"/>
            <a:ext cx="4043065" cy="1905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820" y="1632347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C0392B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986" y="1723513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3051" y="1698427"/>
            <a:ext cx="148092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 Routing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772120" y="2047577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complaint categories to navigate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772120" y="2242393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min average manual classification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772120" y="2437209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Misroutes add 2–5 days of delay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4643735" y="1412677"/>
            <a:ext cx="4043065" cy="1341388"/>
          </a:xfrm>
          <a:prstGeom prst="roundRect">
            <a:avLst>
              <a:gd name="adj" fmla="val 4261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43735" y="1412677"/>
            <a:ext cx="4043065" cy="1905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D4760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4355" y="1632347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760A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5522" y="1723513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9586" y="1698427"/>
            <a:ext cx="120605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Maintenance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4958655" y="2047577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pothole response only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4958655" y="2242393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intelligence</a:t>
            </a:r>
            <a:endParaRPr lang="en-US" sz="790" dirty="0"/>
          </a:p>
        </p:txBody>
      </p:sp>
      <p:sp>
        <p:nvSpPr>
          <p:cNvPr id="20" name="Text 16"/>
          <p:cNvSpPr/>
          <p:nvPr/>
        </p:nvSpPr>
        <p:spPr>
          <a:xfrm>
            <a:off x="4958655" y="2437209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act as the detection system</a:t>
            </a:r>
            <a:endParaRPr lang="en-US" sz="790" dirty="0"/>
          </a:p>
        </p:txBody>
      </p:sp>
      <p:sp>
        <p:nvSpPr>
          <p:cNvPr id="21" name="Text 17"/>
          <p:cNvSpPr/>
          <p:nvPr/>
        </p:nvSpPr>
        <p:spPr>
          <a:xfrm>
            <a:off x="457200" y="2897535"/>
            <a:ext cx="4043065" cy="1323975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7200" y="2897535"/>
            <a:ext cx="4043065" cy="1905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57820" y="31172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C0392B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986" y="3208371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73051" y="3183285"/>
            <a:ext cx="86095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Safety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772120" y="3532436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prediction absent</a:t>
            </a:r>
            <a:endParaRPr lang="en-US" sz="790" dirty="0"/>
          </a:p>
        </p:txBody>
      </p:sp>
      <p:sp>
        <p:nvSpPr>
          <p:cNvPr id="27" name="Text 22"/>
          <p:cNvSpPr/>
          <p:nvPr/>
        </p:nvSpPr>
        <p:spPr>
          <a:xfrm>
            <a:off x="772120" y="3727252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preventive intervention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4643735" y="2897535"/>
            <a:ext cx="4043065" cy="1323975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643735" y="2897535"/>
            <a:ext cx="4043065" cy="1905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D4760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44355" y="31172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760A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5522" y="3208371"/>
            <a:ext cx="132588" cy="1325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59586" y="3183285"/>
            <a:ext cx="131705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960" dirty="0"/>
          </a:p>
        </p:txBody>
      </p:sp>
      <p:sp>
        <p:nvSpPr>
          <p:cNvPr id="33" name="Text 27"/>
          <p:cNvSpPr/>
          <p:nvPr/>
        </p:nvSpPr>
        <p:spPr>
          <a:xfrm>
            <a:off x="4958655" y="3532436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by intuition, not data</a:t>
            </a:r>
            <a:endParaRPr lang="en-US" sz="790" dirty="0"/>
          </a:p>
        </p:txBody>
      </p:sp>
      <p:sp>
        <p:nvSpPr>
          <p:cNvPr id="34" name="Text 28"/>
          <p:cNvSpPr/>
          <p:nvPr/>
        </p:nvSpPr>
        <p:spPr>
          <a:xfrm>
            <a:off x="4958655" y="3727252"/>
            <a:ext cx="388027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optimization support</a:t>
            </a:r>
            <a:endParaRPr lang="en-US" sz="790" dirty="0"/>
          </a:p>
        </p:txBody>
      </p:sp>
      <p:sp>
        <p:nvSpPr>
          <p:cNvPr id="35" name="Text 29"/>
          <p:cNvSpPr/>
          <p:nvPr/>
        </p:nvSpPr>
        <p:spPr>
          <a:xfrm>
            <a:off x="457200" y="4392960"/>
            <a:ext cx="905256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560" dirty="0"/>
          </a:p>
        </p:txBody>
      </p:sp>
      <p:sp>
        <p:nvSpPr>
          <p:cNvPr id="36" name="Text 30"/>
          <p:cNvSpPr/>
          <p:nvPr/>
        </p:nvSpPr>
        <p:spPr>
          <a:xfrm>
            <a:off x="457200" y="4528840"/>
            <a:ext cx="8394192" cy="356890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00660" tIns="100330" rIns="200660" bIns="10033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operating model cannot scale — every delay compounds cost and erodes public trust.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457200" y="4528840"/>
            <a:ext cx="28575" cy="35689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657820" y="2097107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57820" y="2291923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57820" y="2486739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844355" y="2097107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844355" y="2291923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844355" y="2486739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57820" y="3581966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57820" y="3776782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844355" y="3581966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844355" y="3776782"/>
            <a:ext cx="35421" cy="35421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8056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40"/>
              </a:spcAft>
              <a:buNone/>
            </a:pPr>
            <a:r>
              <a:rPr lang="en-US" sz="1800" kern="0" spc="-18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Reactive City to Predictive City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28960"/>
            <a:ext cx="400050" cy="21580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7761" y="979140"/>
            <a:ext cx="4051364" cy="209996"/>
          </a:xfrm>
          <a:prstGeom prst="rect">
            <a:avLst/>
          </a:prstGeom>
          <a:noFill/>
          <a:ln/>
        </p:spPr>
        <p:txBody>
          <a:bodyPr wrap="none" lIns="0" tIns="0" rIns="114300" bIns="71120" rtlCol="0" anchor="t"/>
          <a:lstStyle/>
          <a:p>
            <a:pPr marL="0" indent="0" algn="r">
              <a:buNone/>
            </a:pPr>
            <a:r>
              <a:rPr lang="en-US" sz="680" b="1" kern="0" spc="95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57200" y="1179612"/>
            <a:ext cx="3971925" cy="9525"/>
          </a:xfrm>
          <a:prstGeom prst="rect">
            <a:avLst/>
          </a:prstGeom>
          <a:solidFill>
            <a:srgbClr val="D1D8E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14875" y="979140"/>
            <a:ext cx="4051364" cy="209996"/>
          </a:xfrm>
          <a:prstGeom prst="rect">
            <a:avLst/>
          </a:prstGeom>
          <a:noFill/>
          <a:ln/>
        </p:spPr>
        <p:txBody>
          <a:bodyPr wrap="none" lIns="114300" tIns="0" rIns="0" bIns="71120" rtlCol="0" anchor="t"/>
          <a:lstStyle/>
          <a:p>
            <a:pPr marL="0" indent="0" algn="l">
              <a:buNone/>
            </a:pPr>
            <a:r>
              <a:rPr lang="en-US" sz="680" b="1" kern="0" spc="95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4714875" y="1179612"/>
            <a:ext cx="3971925" cy="9525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535757"/>
            <a:ext cx="8229600" cy="9525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55424" y="1297037"/>
            <a:ext cx="1159401" cy="159990"/>
          </a:xfrm>
          <a:prstGeom prst="rect">
            <a:avLst/>
          </a:prstGeom>
          <a:noFill/>
          <a:ln/>
        </p:spPr>
        <p:txBody>
          <a:bodyPr wrap="none" lIns="0" tIns="0" rIns="11430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response</a:t>
            </a:r>
            <a:endParaRPr lang="en-US" sz="84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3299" y="1310738"/>
            <a:ext cx="132588" cy="132588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1310738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8478" y="1297037"/>
            <a:ext cx="937900" cy="15999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</a:t>
            </a:r>
            <a:endParaRPr lang="en-US" sz="8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0952" y="1310738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862733"/>
            <a:ext cx="8229600" cy="9525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363828" y="1624013"/>
            <a:ext cx="950997" cy="159990"/>
          </a:xfrm>
          <a:prstGeom prst="rect">
            <a:avLst/>
          </a:prstGeom>
          <a:noFill/>
          <a:ln/>
        </p:spPr>
        <p:txBody>
          <a:bodyPr wrap="none" lIns="0" tIns="0" rIns="11430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</a:t>
            </a:r>
            <a:endParaRPr lang="en-US" sz="84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2757" y="1637714"/>
            <a:ext cx="132588" cy="132588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632" y="1637714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8478" y="1624013"/>
            <a:ext cx="1089824" cy="15999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routing</a:t>
            </a:r>
            <a:endParaRPr lang="en-US" sz="84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0952" y="1637714"/>
            <a:ext cx="132588" cy="132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89708"/>
            <a:ext cx="8229600" cy="9525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149039" y="1950988"/>
            <a:ext cx="1165786" cy="159990"/>
          </a:xfrm>
          <a:prstGeom prst="rect">
            <a:avLst/>
          </a:prstGeom>
          <a:noFill/>
          <a:ln/>
        </p:spPr>
        <p:txBody>
          <a:bodyPr wrap="none" lIns="0" tIns="0" rIns="11430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Gut-feel deployment</a:t>
            </a:r>
            <a:endParaRPr lang="en-US" sz="84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97494" y="1964689"/>
            <a:ext cx="132588" cy="132588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5632" y="1964689"/>
            <a:ext cx="132588" cy="132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68478" y="1950988"/>
            <a:ext cx="1726168" cy="15999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Optimization-driven resources</a:t>
            </a:r>
            <a:endParaRPr lang="en-US" sz="84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0952" y="1964689"/>
            <a:ext cx="132588" cy="1325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57200" y="2516684"/>
            <a:ext cx="8229600" cy="9525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6"/>
          <p:cNvSpPr/>
          <p:nvPr/>
        </p:nvSpPr>
        <p:spPr>
          <a:xfrm>
            <a:off x="3376434" y="2277963"/>
            <a:ext cx="938391" cy="159990"/>
          </a:xfrm>
          <a:prstGeom prst="rect">
            <a:avLst/>
          </a:prstGeom>
          <a:noFill/>
          <a:ln/>
        </p:spPr>
        <p:txBody>
          <a:bodyPr wrap="none" lIns="0" tIns="0" rIns="11430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repairs</a:t>
            </a:r>
            <a:endParaRPr lang="en-US" sz="84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04217" y="2291664"/>
            <a:ext cx="132588" cy="132588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5632" y="2291664"/>
            <a:ext cx="132588" cy="13258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4968478" y="2277963"/>
            <a:ext cx="1342102" cy="15999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84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10952" y="2291664"/>
            <a:ext cx="132588" cy="13258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3337798" y="2604939"/>
            <a:ext cx="977027" cy="159990"/>
          </a:xfrm>
          <a:prstGeom prst="rect">
            <a:avLst/>
          </a:prstGeom>
          <a:noFill/>
          <a:ln/>
        </p:spPr>
        <p:txBody>
          <a:bodyPr wrap="none" lIns="0" tIns="0" rIns="11430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84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69093" y="2618640"/>
            <a:ext cx="132588" cy="132588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5632" y="2618640"/>
            <a:ext cx="132588" cy="13258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4968478" y="2604939"/>
            <a:ext cx="1550179" cy="159990"/>
          </a:xfrm>
          <a:prstGeom prst="rect">
            <a:avLst/>
          </a:prstGeom>
          <a:noFill/>
          <a:ln/>
        </p:spPr>
        <p:txBody>
          <a:bodyPr wrap="none" lIns="1143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platform</a:t>
            </a:r>
            <a:endParaRPr lang="en-US" sz="84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10952" y="2618640"/>
            <a:ext cx="132588" cy="132588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2781300" y="4152751"/>
            <a:ext cx="684312" cy="247858"/>
          </a:xfrm>
          <a:prstGeom prst="roundRect">
            <a:avLst>
              <a:gd name="adj" fmla="val 57900"/>
            </a:avLst>
          </a:prstGeom>
          <a:solidFill>
            <a:srgbClr val="E8ECF1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</a:t>
            </a:r>
            <a:endParaRPr lang="en-US" sz="73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96279" y="4199046"/>
            <a:ext cx="132588" cy="132588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3659535" y="4152751"/>
            <a:ext cx="730597" cy="247858"/>
          </a:xfrm>
          <a:prstGeom prst="roundRect">
            <a:avLst>
              <a:gd name="adj" fmla="val 57900"/>
            </a:avLst>
          </a:prstGeom>
          <a:solidFill>
            <a:srgbClr val="D6E2F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73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20800" y="4199046"/>
            <a:ext cx="132588" cy="132588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4584055" y="4152751"/>
            <a:ext cx="695176" cy="247858"/>
          </a:xfrm>
          <a:prstGeom prst="roundRect">
            <a:avLst>
              <a:gd name="adj" fmla="val 57900"/>
            </a:avLst>
          </a:prstGeom>
          <a:solidFill>
            <a:srgbClr val="B5CCE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A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73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09899" y="4199046"/>
            <a:ext cx="132588" cy="132588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5473154" y="4152751"/>
            <a:ext cx="889397" cy="247858"/>
          </a:xfrm>
          <a:prstGeom prst="roundRect">
            <a:avLst>
              <a:gd name="adj" fmla="val 57900"/>
            </a:avLst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30" dirty="0"/>
          </a:p>
        </p:txBody>
      </p:sp>
      <p:sp>
        <p:nvSpPr>
          <p:cNvPr id="44" name="Text 24"/>
          <p:cNvSpPr/>
          <p:nvPr/>
        </p:nvSpPr>
        <p:spPr>
          <a:xfrm>
            <a:off x="457200" y="4535537"/>
            <a:ext cx="8229600" cy="419563"/>
          </a:xfrm>
          <a:prstGeom prst="roundRect">
            <a:avLst>
              <a:gd name="adj" fmla="val 6962"/>
            </a:avLst>
          </a:prstGeom>
          <a:solidFill>
            <a:srgbClr val="F2F5F8"/>
          </a:solidFill>
          <a:ln/>
        </p:spPr>
        <p:txBody>
          <a:bodyPr wrap="square" lIns="143510" tIns="71120" rIns="143510" bIns="7112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560" b="1" kern="0" spc="8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760" dirty="0"/>
          </a:p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8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Vision: Safest and most responsive city in the world by 2030.</a:t>
            </a:r>
            <a:endParaRPr lang="en-US" sz="760" dirty="0"/>
          </a:p>
        </p:txBody>
      </p:sp>
      <p:sp>
        <p:nvSpPr>
          <p:cNvPr id="45" name="Text 25"/>
          <p:cNvSpPr/>
          <p:nvPr/>
        </p:nvSpPr>
        <p:spPr>
          <a:xfrm>
            <a:off x="457200" y="4535537"/>
            <a:ext cx="28575" cy="407343"/>
          </a:xfrm>
          <a:custGeom>
            <a:avLst/>
            <a:gdLst/>
            <a:ahLst/>
            <a:cxnLst/>
            <a:rect l="l" t="t" r="r" b="b"/>
            <a:pathLst>
              <a:path w="28575" h="407343">
                <a:moveTo>
                  <a:pt x="0" y="29210"/>
                </a:moveTo>
                <a:lnTo>
                  <a:pt x="3572" y="15213"/>
                </a:lnTo>
                <a:lnTo>
                  <a:pt x="7144" y="10071"/>
                </a:lnTo>
                <a:lnTo>
                  <a:pt x="10716" y="6601"/>
                </a:lnTo>
                <a:lnTo>
                  <a:pt x="14288" y="4099"/>
                </a:lnTo>
                <a:lnTo>
                  <a:pt x="17859" y="2296"/>
                </a:lnTo>
                <a:lnTo>
                  <a:pt x="21431" y="1055"/>
                </a:lnTo>
                <a:lnTo>
                  <a:pt x="25003" y="305"/>
                </a:lnTo>
                <a:lnTo>
                  <a:pt x="28575" y="6400800"/>
                </a:lnTo>
                <a:lnTo>
                  <a:pt x="28575" y="407336"/>
                </a:lnTo>
                <a:lnTo>
                  <a:pt x="25003" y="407038"/>
                </a:lnTo>
                <a:lnTo>
                  <a:pt x="21431" y="406288"/>
                </a:lnTo>
                <a:lnTo>
                  <a:pt x="17859" y="405047"/>
                </a:lnTo>
                <a:lnTo>
                  <a:pt x="14288" y="403243"/>
                </a:lnTo>
                <a:lnTo>
                  <a:pt x="10716" y="400742"/>
                </a:lnTo>
                <a:lnTo>
                  <a:pt x="7144" y="397272"/>
                </a:lnTo>
                <a:lnTo>
                  <a:pt x="3572" y="392129"/>
                </a:lnTo>
                <a:lnTo>
                  <a:pt x="0" y="378133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2548235" cy="230832"/>
          </a:xfrm>
          <a:prstGeom prst="roundRect">
            <a:avLst>
              <a:gd name="adj" fmla="val 12654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5A: COMPLAINT ROUTING OPTIMIZER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682228"/>
            <a:ext cx="8394192" cy="622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450"/>
              </a:spcAft>
              <a:buNone/>
            </a:pPr>
            <a:r>
              <a:rPr lang="en-US" sz="2030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 Engine for Operational</a:t>
            </a:r>
            <a:br/>
            <a:r>
              <a:rPr lang="en-US" sz="2030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Intelligence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57200" y="1332012"/>
            <a:ext cx="457200" cy="29170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75482"/>
            <a:ext cx="6267105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unsupervised AI to prioritize complaint urgency, improve routing decisions, surface hidden patterns, and support city planning.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78856"/>
            <a:ext cx="1531144" cy="1300907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3509" y="2459831"/>
            <a:ext cx="1185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1022747" y="2621012"/>
            <a:ext cx="400050" cy="40005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269" y="2751534"/>
            <a:ext cx="139005" cy="1390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3927" y="3121372"/>
            <a:ext cx="537540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br/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2131814" y="2278856"/>
            <a:ext cx="1531144" cy="1300907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38123" y="2459831"/>
            <a:ext cx="1185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697361" y="2621012"/>
            <a:ext cx="400050" cy="40005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7883" y="2751534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79850" y="3121372"/>
            <a:ext cx="435072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br/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3806428" y="2278856"/>
            <a:ext cx="1531144" cy="1300907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12737" y="2459831"/>
            <a:ext cx="1185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4371975" y="2621012"/>
            <a:ext cx="400050" cy="40005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497" y="2751534"/>
            <a:ext cx="139005" cy="1390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39851" y="3121372"/>
            <a:ext cx="664297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br/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5481042" y="2278856"/>
            <a:ext cx="1531144" cy="1300907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187351" y="2459831"/>
            <a:ext cx="1185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23" name="Text 18"/>
          <p:cNvSpPr/>
          <p:nvPr/>
        </p:nvSpPr>
        <p:spPr>
          <a:xfrm>
            <a:off x="6046589" y="2621012"/>
            <a:ext cx="400050" cy="40005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111" y="2751534"/>
            <a:ext cx="139005" cy="1390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39018" y="3121372"/>
            <a:ext cx="815191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Pattern</a:t>
            </a:r>
            <a:br/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7155656" y="2278856"/>
            <a:ext cx="1531144" cy="1300907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7861965" y="2459831"/>
            <a:ext cx="1185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28" name="Text 22"/>
          <p:cNvSpPr/>
          <p:nvPr/>
        </p:nvSpPr>
        <p:spPr>
          <a:xfrm>
            <a:off x="7721203" y="2621012"/>
            <a:ext cx="400050" cy="40005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1725" y="2751534"/>
            <a:ext cx="139005" cy="1390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47406" y="3121372"/>
            <a:ext cx="1147643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</a:t>
            </a:r>
            <a:br/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4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3094" y="3985915"/>
            <a:ext cx="5357813" cy="1076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7200" y="4528840"/>
            <a:ext cx="8394192" cy="356890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367923" tIns="100330" rIns="200660" bIns="100330" rtlCol="0" anchor="t"/>
          <a:lstStyle/>
          <a:p>
            <a:pPr marL="0" indent="0" algn="l">
              <a:buNone/>
            </a:pPr>
            <a:r>
              <a:rPr lang="en-US" sz="820" b="1" kern="0" spc="8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operational decision intelligence — not basic ticket automation.</a:t>
            </a:r>
            <a:endParaRPr lang="en-US" sz="820" dirty="0"/>
          </a:p>
        </p:txBody>
      </p:sp>
      <p:sp>
        <p:nvSpPr>
          <p:cNvPr id="33" name="Text 25"/>
          <p:cNvSpPr/>
          <p:nvPr/>
        </p:nvSpPr>
        <p:spPr>
          <a:xfrm>
            <a:off x="457200" y="4528840"/>
            <a:ext cx="28575" cy="356890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173" y="464099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42900"/>
            <a:ext cx="8534126" cy="411956"/>
          </a:xfrm>
          <a:prstGeom prst="rect">
            <a:avLst/>
          </a:prstGeom>
          <a:noFill/>
          <a:ln/>
        </p:spPr>
        <p:txBody>
          <a:bodyPr wrap="none" lIns="0" tIns="0" rIns="0" bIns="71120" rtlCol="0" anchor="t"/>
          <a:lstStyle/>
          <a:p>
            <a:pPr marL="0" indent="0" algn="l">
              <a:buNone/>
            </a:pPr>
            <a:r>
              <a:rPr lang="en-US" sz="1690" kern="0" spc="-2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Innovation Model Learns Without Waiting for Perfect Labels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429220" y="735806"/>
            <a:ext cx="8285559" cy="19050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812006"/>
            <a:ext cx="911411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1350"/>
              </a:spcAft>
              <a:buNone/>
            </a:pPr>
            <a:r>
              <a:rPr lang="en-US" sz="79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unsupervised AI is the right strategic design choice for Nova Haven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29220" y="1133921"/>
            <a:ext cx="3928170" cy="1877020"/>
          </a:xfrm>
          <a:prstGeom prst="roundRect">
            <a:avLst>
              <a:gd name="adj" fmla="val 3045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424" y="1334542"/>
            <a:ext cx="11199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73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338" y="1337676"/>
            <a:ext cx="132588" cy="13258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608" y="1620375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6294" y="1617018"/>
            <a:ext cx="3382816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require reliable ground-truth labels to learn accurately</a:t>
            </a:r>
            <a:endParaRPr lang="en-US" sz="87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08" y="2065967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294" y="2062609"/>
            <a:ext cx="3382816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labels did not exist at city scale — inconsistent tagging across agencies</a:t>
            </a:r>
            <a:endParaRPr lang="en-US" sz="87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08" y="2511558"/>
            <a:ext cx="132588" cy="132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294" y="2508200"/>
            <a:ext cx="3382816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 was unavailable across 186 complaint categories</a:t>
            </a:r>
            <a:endParaRPr lang="en-US" sz="870" dirty="0"/>
          </a:p>
        </p:txBody>
      </p:sp>
      <p:sp>
        <p:nvSpPr>
          <p:cNvPr id="14" name="Text 8"/>
          <p:cNvSpPr/>
          <p:nvPr/>
        </p:nvSpPr>
        <p:spPr>
          <a:xfrm>
            <a:off x="4414540" y="1914971"/>
            <a:ext cx="314920" cy="346412"/>
          </a:xfrm>
          <a:prstGeom prst="ellipse">
            <a:avLst/>
          </a:prstGeom>
          <a:solidFill>
            <a:srgbClr val="2B5EA7"/>
          </a:solidFill>
          <a:ln/>
          <a:effectLst>
            <a:outerShdw blurRad="57150" dist="13970" dir="5400000" algn="bl" rotWithShape="0">
              <a:srgbClr val="2B5EA7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30" dirty="0"/>
          </a:p>
        </p:txBody>
      </p:sp>
      <p:sp>
        <p:nvSpPr>
          <p:cNvPr id="15" name="Text 9"/>
          <p:cNvSpPr/>
          <p:nvPr/>
        </p:nvSpPr>
        <p:spPr>
          <a:xfrm>
            <a:off x="4786610" y="1133921"/>
            <a:ext cx="3928170" cy="1877020"/>
          </a:xfrm>
          <a:prstGeom prst="roundRect">
            <a:avLst>
              <a:gd name="adj" fmla="val 3045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5179814" y="1334542"/>
            <a:ext cx="106821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73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8728" y="1337676"/>
            <a:ext cx="132588" cy="132588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82998" y="1620375"/>
            <a:ext cx="132588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83684" y="1617018"/>
            <a:ext cx="3382816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semantic pattern extraction to capture complaint meaning</a:t>
            </a:r>
            <a:endParaRPr lang="en-US" sz="87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82998" y="2065967"/>
            <a:ext cx="132588" cy="132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83684" y="2062609"/>
            <a:ext cx="3281258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complaint clustering to discover natural groupings</a:t>
            </a:r>
            <a:endParaRPr lang="en-US" sz="87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2998" y="2345912"/>
            <a:ext cx="132588" cy="132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83684" y="2342555"/>
            <a:ext cx="3503905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urgency scoring engine combining multiple signal types</a:t>
            </a:r>
            <a:endParaRPr lang="en-US" sz="87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82998" y="2625858"/>
            <a:ext cx="132588" cy="132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83684" y="2622500"/>
            <a:ext cx="3402568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proxy validation for operational confidence</a:t>
            </a:r>
            <a:endParaRPr lang="en-US" sz="870" dirty="0"/>
          </a:p>
        </p:txBody>
      </p:sp>
      <p:sp>
        <p:nvSpPr>
          <p:cNvPr id="26" name="Text 15"/>
          <p:cNvSpPr/>
          <p:nvPr/>
        </p:nvSpPr>
        <p:spPr>
          <a:xfrm>
            <a:off x="429220" y="3182392"/>
            <a:ext cx="8285559" cy="559296"/>
          </a:xfrm>
          <a:prstGeom prst="rect">
            <a:avLst/>
          </a:prstGeom>
          <a:gradFill rotWithShape="1">
            <a:gsLst>
              <a:gs pos="0">
                <a:srgbClr val="EBF0F7"/>
              </a:gs>
              <a:gs pos="100000">
                <a:srgbClr val="F2F5F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6"/>
          <p:cNvSpPr/>
          <p:nvPr/>
        </p:nvSpPr>
        <p:spPr>
          <a:xfrm>
            <a:off x="429220" y="3182392"/>
            <a:ext cx="28575" cy="559296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962" y="3395671"/>
            <a:ext cx="132588" cy="132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33586" y="3296692"/>
            <a:ext cx="7863938" cy="34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</a:t>
            </a: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patterns</a:t>
            </a:r>
            <a:r>
              <a:rPr lang="en-US" sz="84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unknown emerging complaint types, </a:t>
            </a: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service issues</a:t>
            </a:r>
            <a:r>
              <a:rPr lang="en-US" sz="84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explainable operational signals — without requiring manually curated training data.</a:t>
            </a:r>
            <a:endParaRPr lang="en-US" sz="840" dirty="0"/>
          </a:p>
        </p:txBody>
      </p:sp>
      <p:sp>
        <p:nvSpPr>
          <p:cNvPr id="30" name="Text 18"/>
          <p:cNvSpPr/>
          <p:nvPr/>
        </p:nvSpPr>
        <p:spPr>
          <a:xfrm>
            <a:off x="429220" y="4563219"/>
            <a:ext cx="8285559" cy="351681"/>
          </a:xfrm>
          <a:prstGeom prst="roundRect">
            <a:avLst>
              <a:gd name="adj" fmla="val 12278"/>
            </a:avLst>
          </a:prstGeom>
          <a:solidFill>
            <a:srgbClr val="1A27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1618" y="4672691"/>
            <a:ext cx="132588" cy="13258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12304" y="4663529"/>
            <a:ext cx="5824508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Unsupervised learning was strategically superior — not a compromise, but a design choice.</a:t>
            </a:r>
            <a:endParaRPr lang="en-US" sz="820" dirty="0"/>
          </a:p>
        </p:txBody>
      </p:sp>
      <p:sp>
        <p:nvSpPr>
          <p:cNvPr id="33" name="Text 20"/>
          <p:cNvSpPr/>
          <p:nvPr/>
        </p:nvSpPr>
        <p:spPr>
          <a:xfrm>
            <a:off x="429220" y="1133921"/>
            <a:ext cx="35421" cy="1877016"/>
          </a:xfrm>
          <a:custGeom>
            <a:avLst/>
            <a:gdLst/>
            <a:ahLst/>
            <a:cxnLst/>
            <a:rect l="l" t="t" r="r" b="b"/>
            <a:pathLst>
              <a:path w="35421" h="1877016">
                <a:moveTo>
                  <a:pt x="0" y="57150"/>
                </a:moveTo>
                <a:lnTo>
                  <a:pt x="4428" y="35094"/>
                </a:lnTo>
                <a:lnTo>
                  <a:pt x="8855" y="26593"/>
                </a:lnTo>
                <a:lnTo>
                  <a:pt x="13283" y="20519"/>
                </a:lnTo>
                <a:lnTo>
                  <a:pt x="17711" y="15790"/>
                </a:lnTo>
                <a:lnTo>
                  <a:pt x="22138" y="11980"/>
                </a:lnTo>
                <a:lnTo>
                  <a:pt x="26566" y="8872"/>
                </a:lnTo>
                <a:lnTo>
                  <a:pt x="30993" y="6337"/>
                </a:lnTo>
                <a:lnTo>
                  <a:pt x="35421" y="4292"/>
                </a:lnTo>
                <a:lnTo>
                  <a:pt x="35421" y="1872724"/>
                </a:lnTo>
                <a:lnTo>
                  <a:pt x="30993" y="1870679"/>
                </a:lnTo>
                <a:lnTo>
                  <a:pt x="26566" y="1868143"/>
                </a:lnTo>
                <a:lnTo>
                  <a:pt x="22138" y="1865035"/>
                </a:lnTo>
                <a:lnTo>
                  <a:pt x="17711" y="1861226"/>
                </a:lnTo>
                <a:lnTo>
                  <a:pt x="13283" y="1856496"/>
                </a:lnTo>
                <a:lnTo>
                  <a:pt x="8855" y="1850423"/>
                </a:lnTo>
                <a:lnTo>
                  <a:pt x="4428" y="1841922"/>
                </a:lnTo>
                <a:lnTo>
                  <a:pt x="0" y="1819866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1"/>
          <p:cNvSpPr/>
          <p:nvPr/>
        </p:nvSpPr>
        <p:spPr>
          <a:xfrm>
            <a:off x="4786610" y="1133921"/>
            <a:ext cx="35421" cy="1877016"/>
          </a:xfrm>
          <a:custGeom>
            <a:avLst/>
            <a:gdLst/>
            <a:ahLst/>
            <a:cxnLst/>
            <a:rect l="l" t="t" r="r" b="b"/>
            <a:pathLst>
              <a:path w="35421" h="1877016">
                <a:moveTo>
                  <a:pt x="0" y="57150"/>
                </a:moveTo>
                <a:lnTo>
                  <a:pt x="4428" y="35094"/>
                </a:lnTo>
                <a:lnTo>
                  <a:pt x="8855" y="26593"/>
                </a:lnTo>
                <a:lnTo>
                  <a:pt x="13283" y="20519"/>
                </a:lnTo>
                <a:lnTo>
                  <a:pt x="17711" y="15790"/>
                </a:lnTo>
                <a:lnTo>
                  <a:pt x="22138" y="11980"/>
                </a:lnTo>
                <a:lnTo>
                  <a:pt x="26566" y="8872"/>
                </a:lnTo>
                <a:lnTo>
                  <a:pt x="30993" y="6337"/>
                </a:lnTo>
                <a:lnTo>
                  <a:pt x="35421" y="4292"/>
                </a:lnTo>
                <a:lnTo>
                  <a:pt x="35421" y="1872724"/>
                </a:lnTo>
                <a:lnTo>
                  <a:pt x="30993" y="1870679"/>
                </a:lnTo>
                <a:lnTo>
                  <a:pt x="26566" y="1868143"/>
                </a:lnTo>
                <a:lnTo>
                  <a:pt x="22138" y="1865035"/>
                </a:lnTo>
                <a:lnTo>
                  <a:pt x="17711" y="1861226"/>
                </a:lnTo>
                <a:lnTo>
                  <a:pt x="13283" y="1856496"/>
                </a:lnTo>
                <a:lnTo>
                  <a:pt x="8855" y="1850423"/>
                </a:lnTo>
                <a:lnTo>
                  <a:pt x="4428" y="1841922"/>
                </a:lnTo>
                <a:lnTo>
                  <a:pt x="0" y="1819866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9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kern="0" spc="11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STACK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00050" y="47610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Reactive Tickets Become Intelligence Signals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00050" y="926455"/>
            <a:ext cx="8343900" cy="458391"/>
          </a:xfrm>
          <a:prstGeom prst="roundRect">
            <a:avLst>
              <a:gd name="adj" fmla="val 12468"/>
            </a:avLst>
          </a:prstGeom>
          <a:solidFill>
            <a:srgbClr val="1A3A6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670" y="102676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187" y="108928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911" y="1086148"/>
            <a:ext cx="15716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SOURCES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2574131" y="1041202"/>
            <a:ext cx="1687116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Complaints + Service Requests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4318397" y="1041202"/>
            <a:ext cx="996553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Asset Data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5372100" y="1041202"/>
            <a:ext cx="863054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Data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6292304" y="1041202"/>
            <a:ext cx="1315789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Knowledge Sources</a:t>
            </a:r>
            <a:endParaRPr lang="en-US" sz="73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7706" y="1407914"/>
            <a:ext cx="128588" cy="1390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050" y="1570137"/>
            <a:ext cx="8343900" cy="458391"/>
          </a:xfrm>
          <a:prstGeom prst="roundRect">
            <a:avLst>
              <a:gd name="adj" fmla="val 12468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00670" y="1670447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87" y="1732964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1911" y="1729829"/>
            <a:ext cx="15716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ENGINEERING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2574131" y="1684883"/>
            <a:ext cx="646807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730" dirty="0"/>
          </a:p>
        </p:txBody>
      </p:sp>
      <p:sp>
        <p:nvSpPr>
          <p:cNvPr id="18" name="Text 13"/>
          <p:cNvSpPr/>
          <p:nvPr/>
        </p:nvSpPr>
        <p:spPr>
          <a:xfrm>
            <a:off x="3278088" y="1684883"/>
            <a:ext cx="799505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Pipelines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4134743" y="1684883"/>
            <a:ext cx="1043136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</a:t>
            </a:r>
            <a:endParaRPr lang="en-US" sz="73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706" y="2051596"/>
            <a:ext cx="128588" cy="1390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0050" y="2213818"/>
            <a:ext cx="8343900" cy="458391"/>
          </a:xfrm>
          <a:prstGeom prst="roundRect">
            <a:avLst>
              <a:gd name="adj" fmla="val 12468"/>
            </a:avLst>
          </a:prstGeom>
          <a:solidFill>
            <a:srgbClr val="3574C4"/>
          </a:solidFill>
          <a:ln/>
          <a:effectLst>
            <a:outerShdw blurRad="101600" dist="50800" dir="16200000" algn="bl" rotWithShape="0">
              <a:srgbClr val="3574C4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00670" y="2314129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187" y="2376645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1911" y="2373511"/>
            <a:ext cx="189168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5A ROUTING OPTIMIZER</a:t>
            </a:r>
            <a:endParaRPr lang="en-US" sz="730" dirty="0"/>
          </a:p>
        </p:txBody>
      </p:sp>
      <p:sp>
        <p:nvSpPr>
          <p:cNvPr id="25" name="Text 18"/>
          <p:cNvSpPr/>
          <p:nvPr/>
        </p:nvSpPr>
        <p:spPr>
          <a:xfrm>
            <a:off x="2865090" y="2328565"/>
            <a:ext cx="636538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730" dirty="0"/>
          </a:p>
        </p:txBody>
      </p:sp>
      <p:sp>
        <p:nvSpPr>
          <p:cNvPr id="26" name="Text 19"/>
          <p:cNvSpPr/>
          <p:nvPr/>
        </p:nvSpPr>
        <p:spPr>
          <a:xfrm>
            <a:off x="3558778" y="2328565"/>
            <a:ext cx="903982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Scoring</a:t>
            </a:r>
            <a:endParaRPr lang="en-US" sz="730" dirty="0"/>
          </a:p>
        </p:txBody>
      </p:sp>
      <p:sp>
        <p:nvSpPr>
          <p:cNvPr id="27" name="Text 20"/>
          <p:cNvSpPr/>
          <p:nvPr/>
        </p:nvSpPr>
        <p:spPr>
          <a:xfrm>
            <a:off x="4519910" y="2328565"/>
            <a:ext cx="852488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</a:t>
            </a:r>
            <a:endParaRPr lang="en-US" sz="73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7706" y="2695277"/>
            <a:ext cx="128588" cy="13900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0050" y="2857500"/>
            <a:ext cx="8343900" cy="458391"/>
          </a:xfrm>
          <a:prstGeom prst="roundRect">
            <a:avLst>
              <a:gd name="adj" fmla="val 12468"/>
            </a:avLst>
          </a:prstGeom>
          <a:solidFill>
            <a:srgbClr val="4A8FD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00670" y="295781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187" y="3020327"/>
            <a:ext cx="132588" cy="132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1911" y="3017193"/>
            <a:ext cx="19069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DECISION LAYER</a:t>
            </a:r>
            <a:endParaRPr lang="en-US" sz="730" dirty="0"/>
          </a:p>
        </p:txBody>
      </p:sp>
      <p:sp>
        <p:nvSpPr>
          <p:cNvPr id="33" name="Text 24"/>
          <p:cNvSpPr/>
          <p:nvPr/>
        </p:nvSpPr>
        <p:spPr>
          <a:xfrm>
            <a:off x="2878931" y="2972246"/>
            <a:ext cx="929878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Queues</a:t>
            </a:r>
            <a:endParaRPr lang="en-US" sz="730" dirty="0"/>
          </a:p>
        </p:txBody>
      </p:sp>
      <p:sp>
        <p:nvSpPr>
          <p:cNvPr id="34" name="Text 25"/>
          <p:cNvSpPr/>
          <p:nvPr/>
        </p:nvSpPr>
        <p:spPr>
          <a:xfrm>
            <a:off x="3865959" y="2972246"/>
            <a:ext cx="970806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Prioritization</a:t>
            </a:r>
            <a:endParaRPr lang="en-US" sz="730" dirty="0"/>
          </a:p>
        </p:txBody>
      </p:sp>
      <p:sp>
        <p:nvSpPr>
          <p:cNvPr id="35" name="Text 26"/>
          <p:cNvSpPr/>
          <p:nvPr/>
        </p:nvSpPr>
        <p:spPr>
          <a:xfrm>
            <a:off x="4893915" y="2972246"/>
            <a:ext cx="873323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Routing</a:t>
            </a:r>
            <a:endParaRPr lang="en-US" sz="73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7706" y="3338959"/>
            <a:ext cx="128588" cy="13900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0050" y="3501182"/>
            <a:ext cx="8343900" cy="458391"/>
          </a:xfrm>
          <a:prstGeom prst="roundRect">
            <a:avLst>
              <a:gd name="adj" fmla="val 12468"/>
            </a:avLst>
          </a:prstGeom>
          <a:solidFill>
            <a:srgbClr val="6BAAE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600670" y="360149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3187" y="3664009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01911" y="3660874"/>
            <a:ext cx="15716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INTELLIGENCE</a:t>
            </a:r>
            <a:endParaRPr lang="en-US" sz="730" dirty="0"/>
          </a:p>
        </p:txBody>
      </p:sp>
      <p:sp>
        <p:nvSpPr>
          <p:cNvPr id="41" name="Text 30"/>
          <p:cNvSpPr/>
          <p:nvPr/>
        </p:nvSpPr>
        <p:spPr>
          <a:xfrm>
            <a:off x="2574131" y="3615928"/>
            <a:ext cx="1048196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Forecasting</a:t>
            </a:r>
            <a:endParaRPr lang="en-US" sz="730" dirty="0"/>
          </a:p>
        </p:txBody>
      </p:sp>
      <p:sp>
        <p:nvSpPr>
          <p:cNvPr id="42" name="Text 31"/>
          <p:cNvSpPr/>
          <p:nvPr/>
        </p:nvSpPr>
        <p:spPr>
          <a:xfrm>
            <a:off x="3679478" y="3615928"/>
            <a:ext cx="1151037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Planning</a:t>
            </a:r>
            <a:endParaRPr lang="en-US" sz="730" dirty="0"/>
          </a:p>
        </p:txBody>
      </p:sp>
      <p:sp>
        <p:nvSpPr>
          <p:cNvPr id="43" name="Text 32"/>
          <p:cNvSpPr/>
          <p:nvPr/>
        </p:nvSpPr>
        <p:spPr>
          <a:xfrm>
            <a:off x="4887664" y="3615928"/>
            <a:ext cx="1156097" cy="251787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730" dirty="0"/>
          </a:p>
        </p:txBody>
      </p:sp>
      <p:sp>
        <p:nvSpPr>
          <p:cNvPr id="44" name="Text 33"/>
          <p:cNvSpPr/>
          <p:nvPr/>
        </p:nvSpPr>
        <p:spPr>
          <a:xfrm>
            <a:off x="400050" y="4628108"/>
            <a:ext cx="8343900" cy="286792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400050" y="4628108"/>
            <a:ext cx="28575" cy="286792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5"/>
          <p:cNvSpPr/>
          <p:nvPr/>
        </p:nvSpPr>
        <p:spPr>
          <a:xfrm>
            <a:off x="600075" y="4699099"/>
            <a:ext cx="134570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760" dirty="0"/>
          </a:p>
        </p:txBody>
      </p:sp>
      <p:sp>
        <p:nvSpPr>
          <p:cNvPr id="47" name="Text 36"/>
          <p:cNvSpPr/>
          <p:nvPr/>
        </p:nvSpPr>
        <p:spPr>
          <a:xfrm>
            <a:off x="1923604" y="4699099"/>
            <a:ext cx="2766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760" dirty="0"/>
          </a:p>
        </p:txBody>
      </p:sp>
      <p:sp>
        <p:nvSpPr>
          <p:cNvPr id="48" name="Text 37"/>
          <p:cNvSpPr/>
          <p:nvPr/>
        </p:nvSpPr>
        <p:spPr>
          <a:xfrm>
            <a:off x="2048917" y="4699099"/>
            <a:ext cx="390368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operating system — from raw data to executive planning intelligence.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096566" cy="193997"/>
          </a:xfrm>
          <a:prstGeom prst="roundRect">
            <a:avLst>
              <a:gd name="adj" fmla="val 15057"/>
            </a:avLst>
          </a:prstGeom>
          <a:solidFill>
            <a:srgbClr val="E8EF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619571"/>
            <a:ext cx="8805672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340"/>
              </a:spcAft>
              <a:buNone/>
            </a:pPr>
            <a:r>
              <a:rPr lang="en-US" sz="18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Unsupervised Model Performs Like an Intelligent Triage Engine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37022"/>
            <a:ext cx="429220" cy="21580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59222"/>
            <a:ext cx="2609404" cy="1264054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171450" tIns="228600" rIns="171450" bIns="171450" rtlCol="0" anchor="t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0.186</a:t>
            </a:r>
            <a:endParaRPr lang="en-US" sz="315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3150" dirty="0"/>
          </a:p>
          <a:p>
            <a:pPr marL="0" indent="0" algn="ctr">
              <a:buNone/>
            </a:pPr>
            <a:endParaRPr lang="en-US" sz="3150" dirty="0"/>
          </a:p>
          <a:p>
            <a:pPr marL="0" indent="0" algn="ctr">
              <a:buNone/>
            </a:pPr>
            <a:r>
              <a:rPr lang="en-US" sz="730" kern="0" spc="44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QUALITY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3267224" y="1159222"/>
            <a:ext cx="2609404" cy="1264054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171450" tIns="228600" rIns="171450" bIns="171450" rtlCol="0" anchor="t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94.4%</a:t>
            </a:r>
            <a:endParaRPr lang="en-US" sz="315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Alignment</a:t>
            </a:r>
            <a:endParaRPr lang="en-US" sz="3150" dirty="0"/>
          </a:p>
          <a:p>
            <a:pPr marL="0" indent="0" algn="ctr">
              <a:buNone/>
            </a:pPr>
            <a:endParaRPr lang="en-US" sz="3150" dirty="0"/>
          </a:p>
          <a:p>
            <a:pPr marL="0" indent="0" algn="ctr">
              <a:buNone/>
            </a:pPr>
            <a:r>
              <a:rPr lang="en-US" sz="730" kern="0" spc="44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ACCURACY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077248" y="1159222"/>
            <a:ext cx="2609552" cy="1264054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171450" tIns="228600" rIns="171450" bIns="171450" rtlCol="0" anchor="t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7.48x</a:t>
            </a:r>
            <a:endParaRPr lang="en-US" sz="315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Capture Lift</a:t>
            </a:r>
            <a:endParaRPr lang="en-US" sz="3150" dirty="0"/>
          </a:p>
          <a:p>
            <a:pPr marL="0" indent="0" algn="ctr">
              <a:buNone/>
            </a:pPr>
            <a:endParaRPr lang="en-US" sz="3150" dirty="0"/>
          </a:p>
          <a:p>
            <a:pPr marL="0" indent="0" algn="ctr">
              <a:buNone/>
            </a:pPr>
            <a:r>
              <a:rPr lang="en-US" sz="730" kern="0" spc="44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DECILE PERFORMANCE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453009" y="3414861"/>
            <a:ext cx="6794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CURVE</a:t>
            </a:r>
            <a:endParaRPr lang="en-US" sz="73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175" y="2882354"/>
            <a:ext cx="2247305" cy="11236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62809" y="3414861"/>
            <a:ext cx="199989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SEVERITY DISTRIBUTION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3951982" y="3845272"/>
            <a:ext cx="128141" cy="412552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137273" y="3501330"/>
            <a:ext cx="128141" cy="756493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22564" y="3157538"/>
            <a:ext cx="128141" cy="1100286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07855" y="2882354"/>
            <a:ext cx="128141" cy="1375470"/>
          </a:xfrm>
          <a:prstGeom prst="roundRect">
            <a:avLst>
              <a:gd name="adj" fmla="val 16849"/>
            </a:avLst>
          </a:prstGeom>
          <a:solidFill>
            <a:srgbClr val="1B3F73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93146" y="3363813"/>
            <a:ext cx="128141" cy="894011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8437" y="3680222"/>
            <a:ext cx="128141" cy="577602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063728" y="3955256"/>
            <a:ext cx="128141" cy="302568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43229" y="3414861"/>
            <a:ext cx="18451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ALIGNMENT HEATMAP</a:t>
            </a:r>
            <a:endParaRPr lang="en-US" sz="730" dirty="0"/>
          </a:p>
        </p:txBody>
      </p:sp>
      <p:sp>
        <p:nvSpPr>
          <p:cNvPr id="19" name="Text 16"/>
          <p:cNvSpPr/>
          <p:nvPr/>
        </p:nvSpPr>
        <p:spPr>
          <a:xfrm>
            <a:off x="6315373" y="2939504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47867" y="2939504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180362" y="2939504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612856" y="2939504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045351" y="2939504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315373" y="3369618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47867" y="3369618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180362" y="3369618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612856" y="3369618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045351" y="3369618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315373" y="3799731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747867" y="3799731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180362" y="3799731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2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612856" y="3799731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6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8045351" y="3799731"/>
            <a:ext cx="403324" cy="400943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57200" y="4553099"/>
            <a:ext cx="8229600" cy="332631"/>
          </a:xfrm>
          <a:prstGeom prst="roundRect">
            <a:avLst>
              <a:gd name="adj" fmla="val 17181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328" y="4653120"/>
            <a:ext cx="132588" cy="13258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36414" y="4639419"/>
            <a:ext cx="450843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complaints are surfaced dramatically earlier — proving real operational value.</a:t>
            </a:r>
            <a:endParaRPr lang="en-US" sz="840" dirty="0"/>
          </a:p>
        </p:txBody>
      </p:sp>
      <p:sp>
        <p:nvSpPr>
          <p:cNvPr id="37" name="Text 33"/>
          <p:cNvSpPr/>
          <p:nvPr/>
        </p:nvSpPr>
        <p:spPr>
          <a:xfrm>
            <a:off x="1547220" y="1168747"/>
            <a:ext cx="429220" cy="29170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357244" y="1168747"/>
            <a:ext cx="429220" cy="29170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167411" y="1168747"/>
            <a:ext cx="429220" cy="29170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25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93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 CREATION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490091"/>
            <a:ext cx="8805672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230"/>
              </a:spcAft>
              <a:buNone/>
            </a:pPr>
            <a:r>
              <a:rPr lang="en-US" sz="191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$20M–$35M Annual Value Opportunity at 7–12x ROI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57200" y="798165"/>
            <a:ext cx="90525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350"/>
              </a:spcAft>
              <a:buNone/>
            </a:pPr>
            <a:r>
              <a:rPr lang="en-US" sz="84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 drivers across four operational improvement categories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1070818" y="2229892"/>
            <a:ext cx="3845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$6–8M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31218" y="2444502"/>
            <a:ext cx="628650" cy="928241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2B5EA7"/>
              </a:gs>
              <a:gs pos="100000">
                <a:srgbClr val="1E4A8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1573" y="3443734"/>
            <a:ext cx="507938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4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br/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2018556" y="2938016"/>
            <a:ext cx="125327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2733973" y="2443163"/>
            <a:ext cx="3845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94521" y="2657773"/>
            <a:ext cx="628650" cy="71497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3D7AC4"/>
              </a:gs>
              <a:gs pos="100000">
                <a:srgbClr val="2B5EA7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54685" y="3443734"/>
            <a:ext cx="708321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4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Misroute/Rework</a:t>
            </a:r>
            <a:br/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681859" y="2938016"/>
            <a:ext cx="125327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397276" y="2188666"/>
            <a:ext cx="3845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$5–8M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57675" y="2403277"/>
            <a:ext cx="628650" cy="85725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5B8FD4"/>
              </a:gs>
              <a:gs pos="100000">
                <a:srgbClr val="4478C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71084" y="3331518"/>
            <a:ext cx="801832" cy="353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4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br/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Optimization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5345013" y="2938016"/>
            <a:ext cx="125327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6028581" y="1729383"/>
            <a:ext cx="4544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$8–15M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20829" y="1943993"/>
            <a:ext cx="628650" cy="142875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132D54"/>
              </a:gs>
              <a:gs pos="100000">
                <a:srgbClr val="1A3A6E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78565" y="3443734"/>
            <a:ext cx="713178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4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Incident</a:t>
            </a:r>
            <a:br/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008168" y="2938016"/>
            <a:ext cx="125327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7577584" y="1251496"/>
            <a:ext cx="70575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$20–$35M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7583984" y="1498402"/>
            <a:ext cx="628650" cy="185797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2B5EA7">
                  <a:alpha val="15000"/>
                </a:srgbClr>
              </a:gs>
              <a:gs pos="100000">
                <a:srgbClr val="1A3A6E">
                  <a:alpha val="15000"/>
                </a:srgbClr>
              </a:gs>
            </a:gsLst>
            <a:lin ang="5400000" scaled="1"/>
          </a:gradFill>
          <a:ln w="19050">
            <a:solidFill>
              <a:srgbClr val="2B5EA7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17772" y="3427363"/>
            <a:ext cx="561222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</a:t>
            </a:r>
            <a:br/>
            <a:r>
              <a:rPr lang="en-US" sz="73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294608" y="3811637"/>
            <a:ext cx="2605727" cy="332482"/>
          </a:xfrm>
          <a:prstGeom prst="roundRect">
            <a:avLst>
              <a:gd name="adj" fmla="val 17189"/>
            </a:avLst>
          </a:prstGeom>
          <a:gradFill rotWithShape="1">
            <a:gsLst>
              <a:gs pos="0">
                <a:srgbClr val="EBF2FA"/>
              </a:gs>
              <a:gs pos="100000">
                <a:srgbClr val="D6E5F5"/>
              </a:gs>
            </a:gsLst>
            <a:lin ang="2700000" scaled="1"/>
          </a:gradFill>
          <a:ln w="9525">
            <a:solidFill>
              <a:srgbClr val="2B5EA7"/>
            </a:solidFill>
          </a:ln>
        </p:spPr>
        <p:txBody>
          <a:bodyPr wrap="none" lIns="332650" tIns="71120" rIns="157480" bIns="7112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7–12x Return vs. Contract Investment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4310" y="3911510"/>
            <a:ext cx="132588" cy="13258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4582269"/>
            <a:ext cx="8394192" cy="332631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71450" tIns="86360" rIns="171450" bIns="8636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84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dollar invested returns 7–12x in operational savings and public safety outcomes.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457200" y="4582269"/>
            <a:ext cx="28575" cy="332631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39626"/>
            <a:ext cx="228600" cy="21580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811" y="285750"/>
            <a:ext cx="153921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INTELLIGENCE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29220" y="458391"/>
            <a:ext cx="7643813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25"/>
              </a:lnSpc>
              <a:spcAft>
                <a:spcPts val="1350"/>
              </a:spcAft>
              <a:buNone/>
            </a:pPr>
            <a:r>
              <a:rPr lang="en-US" sz="146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Responding to Complaints to Preventing the Conditions That Generate Them</a:t>
            </a:r>
            <a:endParaRPr lang="en-US" sz="1460" dirty="0"/>
          </a:p>
        </p:txBody>
      </p:sp>
      <p:sp>
        <p:nvSpPr>
          <p:cNvPr id="5" name="Text 3"/>
          <p:cNvSpPr/>
          <p:nvPr/>
        </p:nvSpPr>
        <p:spPr>
          <a:xfrm>
            <a:off x="429220" y="861566"/>
            <a:ext cx="2694980" cy="86498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220" y="861566"/>
            <a:ext cx="28575" cy="86498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5255" y="989707"/>
            <a:ext cx="342900" cy="3429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11" y="1094863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6296" y="989707"/>
            <a:ext cx="20684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Pothole Investment Prioritization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1086296" y="1178868"/>
            <a:ext cx="191805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repair investments by cost-risk severity, not just complaint volume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3224510" y="861566"/>
            <a:ext cx="2694980" cy="86498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24510" y="861566"/>
            <a:ext cx="28575" cy="86498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10545" y="989707"/>
            <a:ext cx="342900" cy="3429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5701" y="1094863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1586" y="989707"/>
            <a:ext cx="191805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Intersection Safety Hotspot Detection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3881586" y="1338858"/>
            <a:ext cx="191805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intersections before accidents cluster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6019800" y="861566"/>
            <a:ext cx="2694980" cy="86498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019800" y="861566"/>
            <a:ext cx="28575" cy="86498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05835" y="989707"/>
            <a:ext cx="342900" cy="3429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0991" y="1094863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6876" y="989707"/>
            <a:ext cx="20684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Equity Analysis</a:t>
            </a:r>
            <a:endParaRPr lang="en-US" sz="840" dirty="0"/>
          </a:p>
        </p:txBody>
      </p:sp>
      <p:sp>
        <p:nvSpPr>
          <p:cNvPr id="22" name="Text 17"/>
          <p:cNvSpPr/>
          <p:nvPr/>
        </p:nvSpPr>
        <p:spPr>
          <a:xfrm>
            <a:off x="6676876" y="1178868"/>
            <a:ext cx="191805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underserved neighborhoods receive proportional service attention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429220" y="1854696"/>
            <a:ext cx="2694980" cy="86498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29220" y="1854696"/>
            <a:ext cx="28575" cy="86498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15255" y="1982837"/>
            <a:ext cx="342900" cy="3429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411" y="2087993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86296" y="1982837"/>
            <a:ext cx="191805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Infrastructure Maintenance</a:t>
            </a:r>
            <a:endParaRPr lang="en-US" sz="840" dirty="0"/>
          </a:p>
        </p:txBody>
      </p:sp>
      <p:sp>
        <p:nvSpPr>
          <p:cNvPr id="28" name="Text 22"/>
          <p:cNvSpPr/>
          <p:nvPr/>
        </p:nvSpPr>
        <p:spPr>
          <a:xfrm>
            <a:off x="1086296" y="2331988"/>
            <a:ext cx="191805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asset failures using complaint patterns and inspection signals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3224510" y="1854696"/>
            <a:ext cx="2694980" cy="86498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224510" y="1854696"/>
            <a:ext cx="28575" cy="86498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410545" y="1982837"/>
            <a:ext cx="342900" cy="3429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5701" y="2087993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1586" y="1982837"/>
            <a:ext cx="20684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 Planning Support</a:t>
            </a:r>
            <a:endParaRPr lang="en-US" sz="840" dirty="0"/>
          </a:p>
        </p:txBody>
      </p:sp>
      <p:sp>
        <p:nvSpPr>
          <p:cNvPr id="34" name="Text 27"/>
          <p:cNvSpPr/>
          <p:nvPr/>
        </p:nvSpPr>
        <p:spPr>
          <a:xfrm>
            <a:off x="3881586" y="2171998"/>
            <a:ext cx="191805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long-term infrastructure budgets with data-driven demand intelligence</a:t>
            </a:r>
            <a:endParaRPr lang="en-US" sz="730" dirty="0"/>
          </a:p>
        </p:txBody>
      </p:sp>
      <p:sp>
        <p:nvSpPr>
          <p:cNvPr id="35" name="Text 28"/>
          <p:cNvSpPr/>
          <p:nvPr/>
        </p:nvSpPr>
        <p:spPr>
          <a:xfrm>
            <a:off x="429220" y="2877145"/>
            <a:ext cx="8285559" cy="40005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A2744"/>
              </a:gs>
              <a:gs pos="100000">
                <a:srgbClr val="2B5EA7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2082403" y="3001863"/>
            <a:ext cx="35803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790" dirty="0"/>
          </a:p>
        </p:txBody>
      </p:sp>
      <p:sp>
        <p:nvSpPr>
          <p:cNvPr id="37" name="Text 30"/>
          <p:cNvSpPr/>
          <p:nvPr/>
        </p:nvSpPr>
        <p:spPr>
          <a:xfrm>
            <a:off x="2508200" y="2991445"/>
            <a:ext cx="14468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complaints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843" y="3012877"/>
            <a:ext cx="171450" cy="128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223593" y="3001863"/>
            <a:ext cx="16780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790" dirty="0"/>
          </a:p>
        </p:txBody>
      </p:sp>
      <p:sp>
        <p:nvSpPr>
          <p:cNvPr id="40" name="Text 32"/>
          <p:cNvSpPr/>
          <p:nvPr/>
        </p:nvSpPr>
        <p:spPr>
          <a:xfrm>
            <a:off x="4476452" y="2991445"/>
            <a:ext cx="28434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conditions that generate complaints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29220" y="4619774"/>
            <a:ext cx="8451271" cy="323106"/>
          </a:xfrm>
          <a:prstGeom prst="roundRect">
            <a:avLst>
              <a:gd name="adj" fmla="val 9040"/>
            </a:avLst>
          </a:prstGeom>
          <a:solidFill>
            <a:srgbClr val="F2F5F8"/>
          </a:solidFill>
          <a:ln/>
        </p:spPr>
        <p:txBody>
          <a:bodyPr wrap="none" lIns="171450" tIns="86360" rIns="171450" bIns="86360" rtlCol="0" anchor="t"/>
          <a:lstStyle/>
          <a:p>
            <a:pPr marL="0" indent="0" algn="l"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r>
              <a:rPr lang="en-US" sz="79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Complaint signals become planning intelligence — that changes city economics.</a:t>
            </a:r>
            <a:endParaRPr lang="en-US" sz="790" dirty="0"/>
          </a:p>
        </p:txBody>
      </p:sp>
      <p:sp>
        <p:nvSpPr>
          <p:cNvPr id="42" name="Text 34"/>
          <p:cNvSpPr/>
          <p:nvPr/>
        </p:nvSpPr>
        <p:spPr>
          <a:xfrm>
            <a:off x="429220" y="4619774"/>
            <a:ext cx="28575" cy="323106"/>
          </a:xfrm>
          <a:custGeom>
            <a:avLst/>
            <a:gdLst/>
            <a:ahLst/>
            <a:cxnLst/>
            <a:rect l="l" t="t" r="r" b="b"/>
            <a:pathLst>
              <a:path w="28575" h="323106">
                <a:moveTo>
                  <a:pt x="0" y="29210"/>
                </a:moveTo>
                <a:lnTo>
                  <a:pt x="3572" y="15213"/>
                </a:lnTo>
                <a:lnTo>
                  <a:pt x="7144" y="10071"/>
                </a:lnTo>
                <a:lnTo>
                  <a:pt x="10716" y="6601"/>
                </a:lnTo>
                <a:lnTo>
                  <a:pt x="14288" y="4099"/>
                </a:lnTo>
                <a:lnTo>
                  <a:pt x="17859" y="2296"/>
                </a:lnTo>
                <a:lnTo>
                  <a:pt x="21431" y="1055"/>
                </a:lnTo>
                <a:lnTo>
                  <a:pt x="25003" y="305"/>
                </a:lnTo>
                <a:lnTo>
                  <a:pt x="28575" y="6400800"/>
                </a:lnTo>
                <a:lnTo>
                  <a:pt x="28575" y="323099"/>
                </a:lnTo>
                <a:lnTo>
                  <a:pt x="25003" y="322801"/>
                </a:lnTo>
                <a:lnTo>
                  <a:pt x="21431" y="322051"/>
                </a:lnTo>
                <a:lnTo>
                  <a:pt x="17859" y="320810"/>
                </a:lnTo>
                <a:lnTo>
                  <a:pt x="14288" y="319006"/>
                </a:lnTo>
                <a:lnTo>
                  <a:pt x="10716" y="316505"/>
                </a:lnTo>
                <a:lnTo>
                  <a:pt x="7144" y="313035"/>
                </a:lnTo>
                <a:lnTo>
                  <a:pt x="3572" y="307893"/>
                </a:lnTo>
                <a:lnTo>
                  <a:pt x="0" y="293896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1492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29220" y="490091"/>
            <a:ext cx="8865549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8"/>
              </a:lnSpc>
              <a:spcAft>
                <a:spcPts val="230"/>
              </a:spcAft>
              <a:buNone/>
            </a:pPr>
            <a:r>
              <a:rPr lang="en-US" sz="169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UrbanPulse: AI Operating System for City Operations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29220" y="776734"/>
            <a:ext cx="911411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1460"/>
              </a:spcAft>
              <a:buNone/>
            </a:pPr>
            <a:r>
              <a:rPr lang="en-US" sz="79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purpose-built AI models — integrated into a single intelligence platform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29220" y="1112490"/>
            <a:ext cx="2694980" cy="61704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205" y="12654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350" y="1329630"/>
            <a:ext cx="157460" cy="157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255" y="1265486"/>
            <a:ext cx="183683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Traffic Severity Prediction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996255" y="1437531"/>
            <a:ext cx="18368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accidents before they happen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3224510" y="1112490"/>
            <a:ext cx="2694980" cy="61704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91495" y="12654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872B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5640" y="1329630"/>
            <a:ext cx="157460" cy="157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1545" y="1265486"/>
            <a:ext cx="20977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Road Surface Computer Vision</a:t>
            </a:r>
            <a:endParaRPr lang="en-US" sz="790" dirty="0"/>
          </a:p>
        </p:txBody>
      </p:sp>
      <p:sp>
        <p:nvSpPr>
          <p:cNvPr id="14" name="Text 10"/>
          <p:cNvSpPr/>
          <p:nvPr/>
        </p:nvSpPr>
        <p:spPr>
          <a:xfrm>
            <a:off x="3791545" y="1437531"/>
            <a:ext cx="20977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repairs with visual intelligence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6019800" y="1112490"/>
            <a:ext cx="2694980" cy="61704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86785" y="12654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4A88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0930" y="1329630"/>
            <a:ext cx="157460" cy="157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6835" y="1265486"/>
            <a:ext cx="193653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Knowledge Assistant (RAG)</a:t>
            </a:r>
            <a:endParaRPr lang="en-US" sz="790" dirty="0"/>
          </a:p>
        </p:txBody>
      </p:sp>
      <p:sp>
        <p:nvSpPr>
          <p:cNvPr id="19" name="Text 14"/>
          <p:cNvSpPr/>
          <p:nvPr/>
        </p:nvSpPr>
        <p:spPr>
          <a:xfrm>
            <a:off x="6586835" y="1437531"/>
            <a:ext cx="19365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through instant retrieval</a:t>
            </a:r>
            <a:endParaRPr lang="en-US" sz="730" dirty="0"/>
          </a:p>
        </p:txBody>
      </p:sp>
      <p:sp>
        <p:nvSpPr>
          <p:cNvPr id="20" name="Text 15"/>
          <p:cNvSpPr/>
          <p:nvPr/>
        </p:nvSpPr>
        <p:spPr>
          <a:xfrm>
            <a:off x="429220" y="1930152"/>
            <a:ext cx="2694980" cy="61704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6205" y="208314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C9AD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350" y="2147292"/>
            <a:ext cx="157460" cy="157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6255" y="2083147"/>
            <a:ext cx="201217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4: Complaint NLP Classification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996255" y="2255193"/>
            <a:ext cx="201217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categorization across 186 types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3391495" y="208314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5640" y="2147292"/>
            <a:ext cx="157460" cy="157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1545" y="2083147"/>
            <a:ext cx="149353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5a: Routing Optimizer - Innovation</a:t>
            </a:r>
            <a:endParaRPr lang="en-US" sz="790" dirty="0"/>
          </a:p>
        </p:txBody>
      </p:sp>
      <p:sp>
        <p:nvSpPr>
          <p:cNvPr id="29" name="Text 22"/>
          <p:cNvSpPr/>
          <p:nvPr/>
        </p:nvSpPr>
        <p:spPr>
          <a:xfrm>
            <a:off x="3791545" y="2255193"/>
            <a:ext cx="149353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 &amp; priority routing</a:t>
            </a:r>
            <a:endParaRPr lang="en-US" sz="730" dirty="0"/>
          </a:p>
        </p:txBody>
      </p:sp>
      <p:sp>
        <p:nvSpPr>
          <p:cNvPr id="30" name="Text 23"/>
          <p:cNvSpPr/>
          <p:nvPr/>
        </p:nvSpPr>
        <p:spPr>
          <a:xfrm>
            <a:off x="2101453" y="2718643"/>
            <a:ext cx="708169" cy="264765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271145" tIns="57150" rIns="128270" bIns="5715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79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6163" y="2784658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66727" y="2754809"/>
            <a:ext cx="1409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10" dirty="0"/>
          </a:p>
        </p:txBody>
      </p:sp>
      <p:sp>
        <p:nvSpPr>
          <p:cNvPr id="33" name="Text 25"/>
          <p:cNvSpPr/>
          <p:nvPr/>
        </p:nvSpPr>
        <p:spPr>
          <a:xfrm>
            <a:off x="3065859" y="2718643"/>
            <a:ext cx="974890" cy="264765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271145" tIns="57150" rIns="128270" bIns="5715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79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70569" y="2784658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92625" y="2754809"/>
            <a:ext cx="1409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10" dirty="0"/>
          </a:p>
        </p:txBody>
      </p:sp>
      <p:sp>
        <p:nvSpPr>
          <p:cNvPr id="36" name="Text 27"/>
          <p:cNvSpPr/>
          <p:nvPr/>
        </p:nvSpPr>
        <p:spPr>
          <a:xfrm>
            <a:off x="4291757" y="2718643"/>
            <a:ext cx="844338" cy="264765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271145" tIns="57150" rIns="128270" bIns="5715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79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96466" y="2784658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90530" y="2754809"/>
            <a:ext cx="1409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10" dirty="0"/>
          </a:p>
        </p:txBody>
      </p:sp>
      <p:sp>
        <p:nvSpPr>
          <p:cNvPr id="39" name="Text 29"/>
          <p:cNvSpPr/>
          <p:nvPr/>
        </p:nvSpPr>
        <p:spPr>
          <a:xfrm>
            <a:off x="5389662" y="2718643"/>
            <a:ext cx="571848" cy="264765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271145" tIns="57150" rIns="128270" bIns="5715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79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94371" y="2784658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021288" y="2754809"/>
            <a:ext cx="1409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10" dirty="0"/>
          </a:p>
        </p:txBody>
      </p:sp>
      <p:sp>
        <p:nvSpPr>
          <p:cNvPr id="42" name="Text 31"/>
          <p:cNvSpPr/>
          <p:nvPr/>
        </p:nvSpPr>
        <p:spPr>
          <a:xfrm>
            <a:off x="6220420" y="2718643"/>
            <a:ext cx="838569" cy="264765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271145" tIns="57150" rIns="128270" bIns="5715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79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5130" y="2784658"/>
            <a:ext cx="132588" cy="13258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29220" y="4656088"/>
            <a:ext cx="8451271" cy="286792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71450" tIns="71120" rIns="171450" bIns="7112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7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Five integrated AI models forming a unified urban intelligence platform.</a:t>
            </a:r>
            <a:endParaRPr lang="en-US" sz="760" dirty="0"/>
          </a:p>
        </p:txBody>
      </p:sp>
      <p:sp>
        <p:nvSpPr>
          <p:cNvPr id="45" name="Text 33"/>
          <p:cNvSpPr/>
          <p:nvPr/>
        </p:nvSpPr>
        <p:spPr>
          <a:xfrm>
            <a:off x="429220" y="4656088"/>
            <a:ext cx="28575" cy="286792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927973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spcAft>
                <a:spcPts val="230"/>
              </a:spcAft>
              <a:buNone/>
            </a:pPr>
            <a:r>
              <a:rPr lang="en-US" sz="158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Phased Deployment Minimizes Risk and Maximizes Learning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400050" y="615851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1350"/>
              </a:spcAft>
              <a:buNone/>
            </a:pPr>
            <a:r>
              <a:rPr lang="en-US" sz="730" b="1" kern="0" spc="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DEPLOYMENT PATH</a:t>
            </a:r>
            <a:endParaRPr lang="en-US" sz="730" dirty="0"/>
          </a:p>
        </p:txBody>
      </p:sp>
      <p:sp>
        <p:nvSpPr>
          <p:cNvPr id="4" name="Text 2"/>
          <p:cNvSpPr/>
          <p:nvPr/>
        </p:nvSpPr>
        <p:spPr>
          <a:xfrm>
            <a:off x="400050" y="926306"/>
            <a:ext cx="695325" cy="43160"/>
          </a:xfrm>
          <a:prstGeom prst="roundRect">
            <a:avLst>
              <a:gd name="adj" fmla="val 50023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5375" y="926306"/>
            <a:ext cx="695325" cy="43160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90700" y="926306"/>
            <a:ext cx="695325" cy="43160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86025" y="926306"/>
            <a:ext cx="695325" cy="43160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81350" y="926306"/>
            <a:ext cx="695325" cy="43160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76675" y="926306"/>
            <a:ext cx="695325" cy="43160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0" y="926306"/>
            <a:ext cx="695325" cy="43160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67325" y="926306"/>
            <a:ext cx="695325" cy="43160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62650" y="926306"/>
            <a:ext cx="695325" cy="43160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57975" y="926306"/>
            <a:ext cx="695325" cy="43160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53300" y="926306"/>
            <a:ext cx="695325" cy="43160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48625" y="926306"/>
            <a:ext cx="695325" cy="43160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528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06060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175593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245125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314658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384190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453723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523255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" dirty="0"/>
          </a:p>
        </p:txBody>
      </p:sp>
      <p:sp>
        <p:nvSpPr>
          <p:cNvPr id="24" name="Text 22"/>
          <p:cNvSpPr/>
          <p:nvPr/>
        </p:nvSpPr>
        <p:spPr>
          <a:xfrm>
            <a:off x="592788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" dirty="0"/>
          </a:p>
        </p:txBody>
      </p:sp>
      <p:sp>
        <p:nvSpPr>
          <p:cNvPr id="25" name="Text 23"/>
          <p:cNvSpPr/>
          <p:nvPr/>
        </p:nvSpPr>
        <p:spPr>
          <a:xfrm>
            <a:off x="662320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7318534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8013859" y="998637"/>
            <a:ext cx="764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400050" y="1219498"/>
            <a:ext cx="2571304" cy="2753469"/>
          </a:xfrm>
          <a:prstGeom prst="roundRect">
            <a:avLst>
              <a:gd name="adj" fmla="val 2223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7510" y="1362968"/>
            <a:ext cx="24820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1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557510" y="1510159"/>
            <a:ext cx="248202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90-Day Pilot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557510" y="1716435"/>
            <a:ext cx="24820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71810" y="1932236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complaint routing optimizer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671810" y="2100411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priority agencies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671810" y="2268587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 measurement</a:t>
            </a:r>
            <a:endParaRPr lang="en-US" sz="73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079" y="3719447"/>
            <a:ext cx="132588" cy="13258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86395" y="3726805"/>
            <a:ext cx="7054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</a:t>
            </a:r>
            <a:endParaRPr lang="en-US" sz="62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3089" y="2510433"/>
            <a:ext cx="171450" cy="17145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286274" y="1219498"/>
            <a:ext cx="2571304" cy="2753469"/>
          </a:xfrm>
          <a:prstGeom prst="roundRect">
            <a:avLst>
              <a:gd name="adj" fmla="val 2223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43734" y="1362968"/>
            <a:ext cx="24820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10" dirty="0">
                <a:solidFill>
                  <a:srgbClr val="3A7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</a:t>
            </a:r>
            <a:endParaRPr lang="en-US" sz="620" dirty="0"/>
          </a:p>
        </p:txBody>
      </p:sp>
      <p:sp>
        <p:nvSpPr>
          <p:cNvPr id="40" name="Text 36"/>
          <p:cNvSpPr/>
          <p:nvPr/>
        </p:nvSpPr>
        <p:spPr>
          <a:xfrm>
            <a:off x="3443734" y="1510159"/>
            <a:ext cx="248202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Integration</a:t>
            </a:r>
            <a:endParaRPr lang="en-US" sz="1010" dirty="0"/>
          </a:p>
        </p:txBody>
      </p:sp>
      <p:sp>
        <p:nvSpPr>
          <p:cNvPr id="41" name="Text 37"/>
          <p:cNvSpPr/>
          <p:nvPr/>
        </p:nvSpPr>
        <p:spPr>
          <a:xfrm>
            <a:off x="3443734" y="1716435"/>
            <a:ext cx="24820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680" dirty="0"/>
          </a:p>
        </p:txBody>
      </p:sp>
      <p:sp>
        <p:nvSpPr>
          <p:cNvPr id="42" name="Text 38"/>
          <p:cNvSpPr/>
          <p:nvPr/>
        </p:nvSpPr>
        <p:spPr>
          <a:xfrm>
            <a:off x="3558034" y="1932236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workflow integration</a:t>
            </a:r>
            <a:endParaRPr lang="en-US" sz="730" dirty="0"/>
          </a:p>
        </p:txBody>
      </p:sp>
      <p:sp>
        <p:nvSpPr>
          <p:cNvPr id="43" name="Text 39"/>
          <p:cNvSpPr/>
          <p:nvPr/>
        </p:nvSpPr>
        <p:spPr>
          <a:xfrm>
            <a:off x="3558034" y="2100411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learning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3558034" y="2268587"/>
            <a:ext cx="2356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dashboards</a:t>
            </a:r>
            <a:endParaRPr lang="en-US" sz="73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02" y="3719447"/>
            <a:ext cx="132588" cy="13258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572619" y="3726805"/>
            <a:ext cx="101631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OPERATIONS</a:t>
            </a:r>
            <a:endParaRPr lang="en-US" sz="62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9313" y="2510433"/>
            <a:ext cx="171450" cy="17145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172498" y="1219498"/>
            <a:ext cx="2571452" cy="2753469"/>
          </a:xfrm>
          <a:prstGeom prst="roundRect">
            <a:avLst>
              <a:gd name="adj" fmla="val 222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6329958" y="1362968"/>
            <a:ext cx="24821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10" dirty="0">
                <a:solidFill>
                  <a:srgbClr val="1A3F6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</a:t>
            </a:r>
            <a:endParaRPr lang="en-US" sz="620" dirty="0"/>
          </a:p>
        </p:txBody>
      </p:sp>
      <p:sp>
        <p:nvSpPr>
          <p:cNvPr id="50" name="Text 44"/>
          <p:cNvSpPr/>
          <p:nvPr/>
        </p:nvSpPr>
        <p:spPr>
          <a:xfrm>
            <a:off x="6329958" y="1510159"/>
            <a:ext cx="248218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Intelligence Scale</a:t>
            </a:r>
            <a:endParaRPr lang="en-US" sz="1010" dirty="0"/>
          </a:p>
        </p:txBody>
      </p:sp>
      <p:sp>
        <p:nvSpPr>
          <p:cNvPr id="51" name="Text 45"/>
          <p:cNvSpPr/>
          <p:nvPr/>
        </p:nvSpPr>
        <p:spPr>
          <a:xfrm>
            <a:off x="6329958" y="1716435"/>
            <a:ext cx="24821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680" dirty="0"/>
          </a:p>
        </p:txBody>
      </p:sp>
      <p:sp>
        <p:nvSpPr>
          <p:cNvPr id="52" name="Text 46"/>
          <p:cNvSpPr/>
          <p:nvPr/>
        </p:nvSpPr>
        <p:spPr>
          <a:xfrm>
            <a:off x="6444258" y="1932236"/>
            <a:ext cx="23564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planning use cases</a:t>
            </a:r>
            <a:endParaRPr lang="en-US" sz="730" dirty="0"/>
          </a:p>
        </p:txBody>
      </p:sp>
      <p:sp>
        <p:nvSpPr>
          <p:cNvPr id="53" name="Text 47"/>
          <p:cNvSpPr/>
          <p:nvPr/>
        </p:nvSpPr>
        <p:spPr>
          <a:xfrm>
            <a:off x="6444258" y="2100411"/>
            <a:ext cx="23564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Cross-agency scaling</a:t>
            </a:r>
            <a:endParaRPr lang="en-US" sz="730" dirty="0"/>
          </a:p>
        </p:txBody>
      </p:sp>
      <p:sp>
        <p:nvSpPr>
          <p:cNvPr id="54" name="Text 48"/>
          <p:cNvSpPr/>
          <p:nvPr/>
        </p:nvSpPr>
        <p:spPr>
          <a:xfrm>
            <a:off x="6444258" y="2268587"/>
            <a:ext cx="23564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UrbanPulse AI expansion</a:t>
            </a:r>
            <a:endParaRPr lang="en-US" sz="730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6526" y="3719447"/>
            <a:ext cx="132588" cy="13258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6458843" y="3726805"/>
            <a:ext cx="89058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1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CITY</a:t>
            </a:r>
            <a:endParaRPr lang="en-US" sz="620" dirty="0"/>
          </a:p>
        </p:txBody>
      </p:sp>
      <p:sp>
        <p:nvSpPr>
          <p:cNvPr id="57" name="Text 50"/>
          <p:cNvSpPr/>
          <p:nvPr/>
        </p:nvSpPr>
        <p:spPr>
          <a:xfrm>
            <a:off x="400050" y="4116437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560"/>
              </a:spcAft>
              <a:buNone/>
            </a:pPr>
            <a:r>
              <a:rPr lang="en-US" sz="620" b="1" kern="0" spc="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KPIS ACROSS ALL PHASES</a:t>
            </a:r>
            <a:endParaRPr lang="en-US" sz="620" dirty="0"/>
          </a:p>
        </p:txBody>
      </p:sp>
      <p:sp>
        <p:nvSpPr>
          <p:cNvPr id="58" name="Text 51"/>
          <p:cNvSpPr/>
          <p:nvPr/>
        </p:nvSpPr>
        <p:spPr>
          <a:xfrm>
            <a:off x="400050" y="4305449"/>
            <a:ext cx="1035915" cy="228302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28270" tIns="49530" rIns="128270" bIns="49530" rtlCol="0" anchor="t"/>
          <a:lstStyle/>
          <a:p>
            <a:pPr marL="0" indent="0" algn="l">
              <a:buNone/>
            </a:pPr>
            <a:r>
              <a:rPr lang="en-US" sz="68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Speed</a:t>
            </a:r>
            <a:endParaRPr lang="en-US" sz="680" dirty="0"/>
          </a:p>
        </p:txBody>
      </p:sp>
      <p:sp>
        <p:nvSpPr>
          <p:cNvPr id="59" name="Text 52"/>
          <p:cNvSpPr/>
          <p:nvPr/>
        </p:nvSpPr>
        <p:spPr>
          <a:xfrm>
            <a:off x="1486644" y="4305449"/>
            <a:ext cx="1249201" cy="228302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28270" tIns="49530" rIns="128270" bIns="49530" rtlCol="0" anchor="t"/>
          <a:lstStyle/>
          <a:p>
            <a:pPr marL="0" indent="0" algn="l">
              <a:buNone/>
            </a:pPr>
            <a:r>
              <a:rPr lang="en-US" sz="68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 Reduction</a:t>
            </a:r>
            <a:endParaRPr lang="en-US" sz="680" dirty="0"/>
          </a:p>
        </p:txBody>
      </p:sp>
      <p:sp>
        <p:nvSpPr>
          <p:cNvPr id="60" name="Text 53"/>
          <p:cNvSpPr/>
          <p:nvPr/>
        </p:nvSpPr>
        <p:spPr>
          <a:xfrm>
            <a:off x="2782342" y="4305449"/>
            <a:ext cx="1222180" cy="228302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28270" tIns="49530" rIns="128270" bIns="49530" rtlCol="0" anchor="t"/>
          <a:lstStyle/>
          <a:p>
            <a:pPr marL="0" indent="0" algn="l">
              <a:buNone/>
            </a:pPr>
            <a:r>
              <a:rPr lang="en-US" sz="68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Reduction</a:t>
            </a:r>
            <a:endParaRPr lang="en-US" sz="680" dirty="0"/>
          </a:p>
        </p:txBody>
      </p:sp>
      <p:sp>
        <p:nvSpPr>
          <p:cNvPr id="61" name="Text 54"/>
          <p:cNvSpPr/>
          <p:nvPr/>
        </p:nvSpPr>
        <p:spPr>
          <a:xfrm>
            <a:off x="4051548" y="4305449"/>
            <a:ext cx="970032" cy="228302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28270" tIns="49530" rIns="128270" bIns="49530" rtlCol="0" anchor="t"/>
          <a:lstStyle/>
          <a:p>
            <a:pPr marL="0" indent="0" algn="l">
              <a:buNone/>
            </a:pPr>
            <a:r>
              <a:rPr lang="en-US" sz="68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680" dirty="0"/>
          </a:p>
        </p:txBody>
      </p:sp>
      <p:sp>
        <p:nvSpPr>
          <p:cNvPr id="62" name="Text 55"/>
          <p:cNvSpPr/>
          <p:nvPr/>
        </p:nvSpPr>
        <p:spPr>
          <a:xfrm>
            <a:off x="5073551" y="4305449"/>
            <a:ext cx="1244647" cy="228302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28270" tIns="49530" rIns="128270" bIns="49530" rtlCol="0" anchor="t"/>
          <a:lstStyle/>
          <a:p>
            <a:pPr marL="0" indent="0" algn="l">
              <a:buNone/>
            </a:pPr>
            <a:r>
              <a:rPr lang="en-US" sz="68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Satisfaction</a:t>
            </a:r>
            <a:endParaRPr lang="en-US" sz="680" dirty="0"/>
          </a:p>
        </p:txBody>
      </p:sp>
      <p:sp>
        <p:nvSpPr>
          <p:cNvPr id="63" name="Text 56"/>
          <p:cNvSpPr/>
          <p:nvPr/>
        </p:nvSpPr>
        <p:spPr>
          <a:xfrm>
            <a:off x="400050" y="4661892"/>
            <a:ext cx="8510778" cy="280988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43510" tIns="71120" rIns="143510" bIns="71120" rtlCol="0" anchor="t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73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small, prove value fast, then scale across the city.</a:t>
            </a:r>
            <a:endParaRPr lang="en-US" sz="730" dirty="0"/>
          </a:p>
        </p:txBody>
      </p:sp>
      <p:sp>
        <p:nvSpPr>
          <p:cNvPr id="64" name="Text 57"/>
          <p:cNvSpPr/>
          <p:nvPr/>
        </p:nvSpPr>
        <p:spPr>
          <a:xfrm>
            <a:off x="400050" y="4661892"/>
            <a:ext cx="28575" cy="280988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400050" y="1219498"/>
            <a:ext cx="2571302" cy="29170"/>
          </a:xfrm>
          <a:custGeom>
            <a:avLst/>
            <a:gdLst/>
            <a:ahLst/>
            <a:cxnLst/>
            <a:rect l="l" t="t" r="r" b="b"/>
            <a:pathLst>
              <a:path w="2571302" h="29170">
                <a:moveTo>
                  <a:pt x="57150" y="0"/>
                </a:moveTo>
                <a:lnTo>
                  <a:pt x="2514152" y="0"/>
                </a:lnTo>
                <a:lnTo>
                  <a:pt x="2514152" y="0"/>
                </a:lnTo>
                <a:lnTo>
                  <a:pt x="2525302" y="1098"/>
                </a:lnTo>
                <a:lnTo>
                  <a:pt x="2536023" y="4350"/>
                </a:lnTo>
                <a:lnTo>
                  <a:pt x="2545903" y="9632"/>
                </a:lnTo>
                <a:lnTo>
                  <a:pt x="2554563" y="16739"/>
                </a:lnTo>
                <a:lnTo>
                  <a:pt x="2561671" y="25399"/>
                </a:lnTo>
                <a:lnTo>
                  <a:pt x="2566952" y="29170"/>
                </a:lnTo>
                <a:lnTo>
                  <a:pt x="2570204" y="29170"/>
                </a:lnTo>
                <a:lnTo>
                  <a:pt x="2571302" y="29170"/>
                </a:lnTo>
                <a:lnTo>
                  <a:pt x="2571302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3286274" y="1219498"/>
            <a:ext cx="2571302" cy="29170"/>
          </a:xfrm>
          <a:custGeom>
            <a:avLst/>
            <a:gdLst/>
            <a:ahLst/>
            <a:cxnLst/>
            <a:rect l="l" t="t" r="r" b="b"/>
            <a:pathLst>
              <a:path w="2571302" h="29170">
                <a:moveTo>
                  <a:pt x="57150" y="0"/>
                </a:moveTo>
                <a:lnTo>
                  <a:pt x="2514152" y="0"/>
                </a:lnTo>
                <a:lnTo>
                  <a:pt x="2514152" y="0"/>
                </a:lnTo>
                <a:lnTo>
                  <a:pt x="2525302" y="1098"/>
                </a:lnTo>
                <a:lnTo>
                  <a:pt x="2536023" y="4350"/>
                </a:lnTo>
                <a:lnTo>
                  <a:pt x="2545903" y="9632"/>
                </a:lnTo>
                <a:lnTo>
                  <a:pt x="2554563" y="16739"/>
                </a:lnTo>
                <a:lnTo>
                  <a:pt x="2561671" y="25399"/>
                </a:lnTo>
                <a:lnTo>
                  <a:pt x="2566952" y="29170"/>
                </a:lnTo>
                <a:lnTo>
                  <a:pt x="2570204" y="29170"/>
                </a:lnTo>
                <a:lnTo>
                  <a:pt x="2571302" y="29170"/>
                </a:lnTo>
                <a:lnTo>
                  <a:pt x="2571302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172498" y="1219498"/>
            <a:ext cx="2571455" cy="29170"/>
          </a:xfrm>
          <a:custGeom>
            <a:avLst/>
            <a:gdLst/>
            <a:ahLst/>
            <a:cxnLst/>
            <a:rect l="l" t="t" r="r" b="b"/>
            <a:pathLst>
              <a:path w="2571455" h="29170">
                <a:moveTo>
                  <a:pt x="57150" y="0"/>
                </a:moveTo>
                <a:lnTo>
                  <a:pt x="2514305" y="0"/>
                </a:lnTo>
                <a:lnTo>
                  <a:pt x="2514305" y="0"/>
                </a:lnTo>
                <a:lnTo>
                  <a:pt x="2525454" y="1098"/>
                </a:lnTo>
                <a:lnTo>
                  <a:pt x="2536175" y="4350"/>
                </a:lnTo>
                <a:lnTo>
                  <a:pt x="2546056" y="9632"/>
                </a:lnTo>
                <a:lnTo>
                  <a:pt x="2554716" y="16739"/>
                </a:lnTo>
                <a:lnTo>
                  <a:pt x="2561823" y="25399"/>
                </a:lnTo>
                <a:lnTo>
                  <a:pt x="2567104" y="29170"/>
                </a:lnTo>
                <a:lnTo>
                  <a:pt x="2570357" y="29170"/>
                </a:lnTo>
                <a:lnTo>
                  <a:pt x="2571455" y="29170"/>
                </a:lnTo>
                <a:lnTo>
                  <a:pt x="2571455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1"/>
          <p:cNvSpPr/>
          <p:nvPr/>
        </p:nvSpPr>
        <p:spPr>
          <a:xfrm>
            <a:off x="557510" y="1981766"/>
            <a:ext cx="43160" cy="4316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557510" y="2149941"/>
            <a:ext cx="43160" cy="4316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3"/>
          <p:cNvSpPr/>
          <p:nvPr/>
        </p:nvSpPr>
        <p:spPr>
          <a:xfrm>
            <a:off x="557510" y="2318117"/>
            <a:ext cx="43160" cy="4316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3443734" y="1981766"/>
            <a:ext cx="43160" cy="43160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5"/>
          <p:cNvSpPr/>
          <p:nvPr/>
        </p:nvSpPr>
        <p:spPr>
          <a:xfrm>
            <a:off x="3443734" y="2149941"/>
            <a:ext cx="43160" cy="43160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6"/>
          <p:cNvSpPr/>
          <p:nvPr/>
        </p:nvSpPr>
        <p:spPr>
          <a:xfrm>
            <a:off x="3443734" y="2318117"/>
            <a:ext cx="43160" cy="43160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6329958" y="1981766"/>
            <a:ext cx="43160" cy="43160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8"/>
          <p:cNvSpPr/>
          <p:nvPr/>
        </p:nvSpPr>
        <p:spPr>
          <a:xfrm>
            <a:off x="6329958" y="2149941"/>
            <a:ext cx="43160" cy="43160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6329958" y="2318117"/>
            <a:ext cx="43160" cy="43160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6776"/>
            <a:ext cx="228600" cy="21580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791" y="342900"/>
            <a:ext cx="204294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200" y="515541"/>
            <a:ext cx="8805672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80"/>
              </a:spcAft>
              <a:buNone/>
            </a:pPr>
            <a:r>
              <a:rPr lang="en-US" sz="18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Other Firms Bring Models. </a:t>
            </a:r>
            <a:r>
              <a:rPr lang="en-US" sz="180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Bring Transformation.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90451"/>
            <a:ext cx="2676227" cy="59427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0670" y="109076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82" y="1160273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6730" y="1090761"/>
            <a:ext cx="22035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Public-Sector AI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986730" y="1242715"/>
            <a:ext cx="204329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models built for government accountability &amp; public trust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3233738" y="990451"/>
            <a:ext cx="2676376" cy="59427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77208" y="109076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719" y="116027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3268" y="1090761"/>
            <a:ext cx="22037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ROI-Backed Use Cases</a:t>
            </a:r>
            <a:endParaRPr lang="en-US" sz="790" dirty="0"/>
          </a:p>
        </p:txBody>
      </p:sp>
      <p:sp>
        <p:nvSpPr>
          <p:cNvPr id="14" name="Text 10"/>
          <p:cNvSpPr/>
          <p:nvPr/>
        </p:nvSpPr>
        <p:spPr>
          <a:xfrm>
            <a:off x="3763268" y="1242715"/>
            <a:ext cx="2043443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quantified with proven metrics &amp; economic modeling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6010424" y="990451"/>
            <a:ext cx="2676376" cy="59427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53894" y="109076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406" y="1160273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9954" y="1090761"/>
            <a:ext cx="22037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Realism</a:t>
            </a:r>
            <a:endParaRPr lang="en-US" sz="790" dirty="0"/>
          </a:p>
        </p:txBody>
      </p:sp>
      <p:sp>
        <p:nvSpPr>
          <p:cNvPr id="19" name="Text 14"/>
          <p:cNvSpPr/>
          <p:nvPr/>
        </p:nvSpPr>
        <p:spPr>
          <a:xfrm>
            <a:off x="6539954" y="1242715"/>
            <a:ext cx="2043443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designed around real operators, not theoretical automation</a:t>
            </a:r>
            <a:endParaRPr lang="en-US" sz="680" dirty="0"/>
          </a:p>
        </p:txBody>
      </p:sp>
      <p:sp>
        <p:nvSpPr>
          <p:cNvPr id="20" name="Text 15"/>
          <p:cNvSpPr/>
          <p:nvPr/>
        </p:nvSpPr>
        <p:spPr>
          <a:xfrm>
            <a:off x="1028700" y="1671042"/>
            <a:ext cx="3493145" cy="473422"/>
          </a:xfrm>
          <a:prstGeom prst="roundRect">
            <a:avLst>
              <a:gd name="adj" fmla="val 1207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172170" y="177135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682" y="1840864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8230" y="1771352"/>
            <a:ext cx="22816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Platform Strategy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1558230" y="1923306"/>
            <a:ext cx="2281639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ecosystem — not isolated point solutions</a:t>
            </a:r>
            <a:endParaRPr lang="en-US" sz="680" dirty="0"/>
          </a:p>
        </p:txBody>
      </p:sp>
      <p:sp>
        <p:nvSpPr>
          <p:cNvPr id="25" name="Text 19"/>
          <p:cNvSpPr/>
          <p:nvPr/>
        </p:nvSpPr>
        <p:spPr>
          <a:xfrm>
            <a:off x="4622155" y="1671042"/>
            <a:ext cx="3493145" cy="473422"/>
          </a:xfrm>
          <a:prstGeom prst="roundRect">
            <a:avLst>
              <a:gd name="adj" fmla="val 1207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765625" y="177135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5137" y="1840864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51686" y="1771352"/>
            <a:ext cx="24343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Pilot Readiness</a:t>
            </a:r>
            <a:endParaRPr lang="en-US" sz="790" dirty="0"/>
          </a:p>
        </p:txBody>
      </p:sp>
      <p:sp>
        <p:nvSpPr>
          <p:cNvPr id="29" name="Text 22"/>
          <p:cNvSpPr/>
          <p:nvPr/>
        </p:nvSpPr>
        <p:spPr>
          <a:xfrm>
            <a:off x="5151686" y="1923306"/>
            <a:ext cx="2434382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90 days — no 12-month planning cycle required</a:t>
            </a:r>
            <a:endParaRPr lang="en-US" sz="680" dirty="0"/>
          </a:p>
        </p:txBody>
      </p:sp>
      <p:sp>
        <p:nvSpPr>
          <p:cNvPr id="30" name="Text 23"/>
          <p:cNvSpPr/>
          <p:nvPr/>
        </p:nvSpPr>
        <p:spPr>
          <a:xfrm>
            <a:off x="2282200" y="2315914"/>
            <a:ext cx="457959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87"/>
              </a:lnSpc>
              <a:buNone/>
            </a:pPr>
            <a:r>
              <a:rPr lang="en-US" sz="225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Experimentation. </a:t>
            </a:r>
            <a:r>
              <a:rPr lang="en-US" sz="2250" b="1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Execution.</a:t>
            </a:r>
            <a:endParaRPr lang="en-US" sz="2250" dirty="0"/>
          </a:p>
        </p:txBody>
      </p:sp>
      <p:sp>
        <p:nvSpPr>
          <p:cNvPr id="31" name="Text 24"/>
          <p:cNvSpPr/>
          <p:nvPr/>
        </p:nvSpPr>
        <p:spPr>
          <a:xfrm>
            <a:off x="457200" y="4444603"/>
            <a:ext cx="8229600" cy="484406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lIns="171450" tIns="86360" rIns="171450" bIns="86360" rtlCol="0" anchor="t"/>
          <a:lstStyle/>
          <a:p>
            <a:pPr marL="0" indent="0" algn="l"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120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analytical rigor with operational pragmatism — ready to deliver from Day 1.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4444603"/>
            <a:ext cx="28575" cy="470297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2146250" y="2381696"/>
            <a:ext cx="29170" cy="197048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968577" y="2381696"/>
            <a:ext cx="29170" cy="197048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25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450"/>
              </a:spcAft>
              <a:buNone/>
            </a:pPr>
            <a:r>
              <a:rPr lang="en-US" sz="620" b="1" kern="0" spc="10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IMPACT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518071"/>
            <a:ext cx="8805672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3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Not Software. </a:t>
            </a:r>
            <a:r>
              <a:rPr lang="en-US" sz="1910" b="1" kern="0" spc="-3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Urban Operating Leverage.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57200" y="1040755"/>
            <a:ext cx="2628900" cy="200025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820" y="1241375"/>
            <a:ext cx="314920" cy="346412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657820" y="1656606"/>
            <a:ext cx="24504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ONE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657820" y="1817787"/>
            <a:ext cx="245042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Efficiency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00695" y="2128391"/>
            <a:ext cx="2149688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delivery across all channels</a:t>
            </a:r>
            <a:endParaRPr lang="en-US" sz="82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89" y="2118801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695" y="2345085"/>
            <a:ext cx="2137574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operating costs through automation</a:t>
            </a:r>
            <a:endParaRPr lang="en-US" sz="82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89" y="2335494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695" y="2561779"/>
            <a:ext cx="2016264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resource allocation &amp; utilization</a:t>
            </a:r>
            <a:endParaRPr lang="en-US" sz="82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89" y="2552188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57550" y="1040755"/>
            <a:ext cx="2628900" cy="200025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458170" y="1241375"/>
            <a:ext cx="314920" cy="346412"/>
          </a:xfrm>
          <a:prstGeom prst="ellipse">
            <a:avLst/>
          </a:prstGeom>
          <a:solidFill>
            <a:srgbClr val="1B7A5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3458170" y="1656606"/>
            <a:ext cx="24504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TWO</a:t>
            </a:r>
            <a:endParaRPr lang="en-US" sz="620" dirty="0"/>
          </a:p>
        </p:txBody>
      </p:sp>
      <p:sp>
        <p:nvSpPr>
          <p:cNvPr id="17" name="Text 12"/>
          <p:cNvSpPr/>
          <p:nvPr/>
        </p:nvSpPr>
        <p:spPr>
          <a:xfrm>
            <a:off x="3458170" y="1817787"/>
            <a:ext cx="245042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Outcomes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3601045" y="2128391"/>
            <a:ext cx="2156564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 through predictive intervention</a:t>
            </a:r>
            <a:endParaRPr lang="en-US" sz="82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4739" y="2118801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01045" y="2345085"/>
            <a:ext cx="1850916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improved service quality</a:t>
            </a:r>
            <a:endParaRPr lang="en-US" sz="82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4739" y="2335494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01045" y="2561779"/>
            <a:ext cx="1774627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citizen trust and satisfaction</a:t>
            </a:r>
            <a:endParaRPr lang="en-US" sz="82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34739" y="2552188"/>
            <a:ext cx="132588" cy="132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57900" y="1040755"/>
            <a:ext cx="2628900" cy="200025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6258520" y="1241375"/>
            <a:ext cx="314920" cy="346412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130" dirty="0"/>
          </a:p>
        </p:txBody>
      </p:sp>
      <p:sp>
        <p:nvSpPr>
          <p:cNvPr id="26" name="Text 18"/>
          <p:cNvSpPr/>
          <p:nvPr/>
        </p:nvSpPr>
        <p:spPr>
          <a:xfrm>
            <a:off x="6258520" y="1656606"/>
            <a:ext cx="24504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THREE</a:t>
            </a:r>
            <a:endParaRPr lang="en-US" sz="620" dirty="0"/>
          </a:p>
        </p:txBody>
      </p:sp>
      <p:sp>
        <p:nvSpPr>
          <p:cNvPr id="27" name="Text 19"/>
          <p:cNvSpPr/>
          <p:nvPr/>
        </p:nvSpPr>
        <p:spPr>
          <a:xfrm>
            <a:off x="6258520" y="1817787"/>
            <a:ext cx="245042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Transformation</a:t>
            </a:r>
            <a:endParaRPr lang="en-US" sz="1240" dirty="0"/>
          </a:p>
        </p:txBody>
      </p:sp>
      <p:sp>
        <p:nvSpPr>
          <p:cNvPr id="28" name="Text 20"/>
          <p:cNvSpPr/>
          <p:nvPr/>
        </p:nvSpPr>
        <p:spPr>
          <a:xfrm>
            <a:off x="6401395" y="2128391"/>
            <a:ext cx="1800165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AI platform for the city</a:t>
            </a:r>
            <a:endParaRPr lang="en-US" sz="82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5089" y="2118801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01395" y="2345085"/>
            <a:ext cx="2187997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for city modernization</a:t>
            </a:r>
            <a:endParaRPr lang="en-US" sz="82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5089" y="2335494"/>
            <a:ext cx="132588" cy="13258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401395" y="2561779"/>
            <a:ext cx="2092881" cy="145852"/>
          </a:xfrm>
          <a:prstGeom prst="rect">
            <a:avLst/>
          </a:prstGeom>
          <a:noFill/>
          <a:ln/>
        </p:spPr>
        <p:txBody>
          <a:bodyPr wrap="none" lIns="0" tIns="35560" rIns="0" bIns="3556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intelligence across all agencies</a:t>
            </a:r>
            <a:endParaRPr lang="en-US" sz="82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5089" y="2552188"/>
            <a:ext cx="132588" cy="132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57200" y="3248918"/>
            <a:ext cx="2905869" cy="21580"/>
          </a:xfrm>
          <a:prstGeom prst="rect">
            <a:avLst/>
          </a:prstGeom>
          <a:gradFill rotWithShape="1">
            <a:gsLst>
              <a:gs pos="0">
                <a:srgbClr val="2B5EA7"/>
              </a:gs>
              <a:gs pos="100000">
                <a:srgbClr val="1B7A5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63069" y="3184475"/>
            <a:ext cx="150465" cy="15046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513534" y="3248918"/>
            <a:ext cx="2906018" cy="21580"/>
          </a:xfrm>
          <a:prstGeom prst="rect">
            <a:avLst/>
          </a:prstGeom>
          <a:gradFill rotWithShape="1">
            <a:gsLst>
              <a:gs pos="0">
                <a:srgbClr val="1B7A5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9552" y="3184475"/>
            <a:ext cx="150465" cy="150465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570018" y="3248918"/>
            <a:ext cx="871835" cy="21580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6"/>
          <p:cNvSpPr/>
          <p:nvPr/>
        </p:nvSpPr>
        <p:spPr>
          <a:xfrm>
            <a:off x="7499003" y="3194893"/>
            <a:ext cx="13065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COMPOUNDS →</a:t>
            </a:r>
            <a:endParaRPr lang="en-US" sz="680" dirty="0"/>
          </a:p>
        </p:txBody>
      </p:sp>
      <p:sp>
        <p:nvSpPr>
          <p:cNvPr id="40" name="Text 27"/>
          <p:cNvSpPr/>
          <p:nvPr/>
        </p:nvSpPr>
        <p:spPr>
          <a:xfrm>
            <a:off x="457200" y="3449241"/>
            <a:ext cx="8229600" cy="608112"/>
          </a:xfrm>
          <a:prstGeom prst="roundRect">
            <a:avLst>
              <a:gd name="adj" fmla="val 11695"/>
            </a:avLst>
          </a:prstGeom>
          <a:gradFill rotWithShape="1">
            <a:gsLst>
              <a:gs pos="0">
                <a:srgbClr val="2B5EA7"/>
              </a:gs>
              <a:gs pos="100000">
                <a:srgbClr val="1B4A8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457200" y="3563541"/>
            <a:ext cx="2746325" cy="4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4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$20–35M</a:t>
            </a:r>
            <a:endParaRPr lang="en-US" sz="1240" dirty="0"/>
          </a:p>
          <a:p>
            <a:pPr marL="0" indent="0" algn="ctr">
              <a:buNone/>
            </a:pPr>
            <a:r>
              <a:rPr lang="en-US" sz="680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Impact</a:t>
            </a:r>
            <a:endParaRPr lang="en-US" sz="1240" dirty="0"/>
          </a:p>
        </p:txBody>
      </p:sp>
      <p:sp>
        <p:nvSpPr>
          <p:cNvPr id="42" name="Text 29"/>
          <p:cNvSpPr/>
          <p:nvPr/>
        </p:nvSpPr>
        <p:spPr>
          <a:xfrm>
            <a:off x="3194000" y="3563541"/>
            <a:ext cx="9525" cy="37951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3203525" y="3563541"/>
            <a:ext cx="2746474" cy="4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4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7–12x</a:t>
            </a:r>
            <a:endParaRPr lang="en-US" sz="1240" dirty="0"/>
          </a:p>
          <a:p>
            <a:pPr marL="0" indent="0" algn="ctr">
              <a:buNone/>
            </a:pPr>
            <a:r>
              <a:rPr lang="en-US" sz="680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40" dirty="0"/>
          </a:p>
        </p:txBody>
      </p:sp>
      <p:sp>
        <p:nvSpPr>
          <p:cNvPr id="44" name="Text 31"/>
          <p:cNvSpPr/>
          <p:nvPr/>
        </p:nvSpPr>
        <p:spPr>
          <a:xfrm>
            <a:off x="5940475" y="3563541"/>
            <a:ext cx="9525" cy="37951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2"/>
          <p:cNvSpPr/>
          <p:nvPr/>
        </p:nvSpPr>
        <p:spPr>
          <a:xfrm>
            <a:off x="5813160" y="3563541"/>
            <a:ext cx="301048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Reusable AI</a:t>
            </a:r>
            <a:endParaRPr lang="en-US" sz="1240" dirty="0"/>
          </a:p>
        </p:txBody>
      </p:sp>
      <p:sp>
        <p:nvSpPr>
          <p:cNvPr id="46" name="Text 33"/>
          <p:cNvSpPr/>
          <p:nvPr/>
        </p:nvSpPr>
        <p:spPr>
          <a:xfrm>
            <a:off x="5813160" y="3813572"/>
            <a:ext cx="301048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kern="0" spc="2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Agencies</a:t>
            </a:r>
            <a:endParaRPr lang="en-US" sz="680" dirty="0"/>
          </a:p>
        </p:txBody>
      </p:sp>
      <p:sp>
        <p:nvSpPr>
          <p:cNvPr id="47" name="Text 34"/>
          <p:cNvSpPr/>
          <p:nvPr/>
        </p:nvSpPr>
        <p:spPr>
          <a:xfrm>
            <a:off x="457200" y="4171652"/>
            <a:ext cx="8394192" cy="441275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43510" tIns="86360" rIns="143510" bIns="8636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56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compounds across operations, public outcomes, and long-term city strategy.</a:t>
            </a:r>
            <a:endParaRPr lang="en-US" sz="560" dirty="0"/>
          </a:p>
        </p:txBody>
      </p:sp>
      <p:sp>
        <p:nvSpPr>
          <p:cNvPr id="48" name="Text 35"/>
          <p:cNvSpPr/>
          <p:nvPr/>
        </p:nvSpPr>
        <p:spPr>
          <a:xfrm>
            <a:off x="457200" y="4171652"/>
            <a:ext cx="28575" cy="441275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457200" y="1040755"/>
            <a:ext cx="2628900" cy="35421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3257550" y="1040755"/>
            <a:ext cx="2628900" cy="35421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1B7A5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6057900" y="1040755"/>
            <a:ext cx="2628900" cy="35421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464022" cy="193997"/>
          </a:xfrm>
          <a:prstGeom prst="roundRect">
            <a:avLst>
              <a:gd name="adj" fmla="val 11129"/>
            </a:avLst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DECISION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605582"/>
            <a:ext cx="8805672" cy="25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5"/>
              </a:lnSpc>
              <a:spcAft>
                <a:spcPts val="340"/>
              </a:spcAft>
              <a:buNone/>
            </a:pPr>
            <a:r>
              <a:rPr lang="en-US" sz="158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 Launch of Model 5a Pilot as Anchor UrbanPulse AI Use Case</a:t>
            </a:r>
            <a:endParaRPr lang="en-US" sz="1580" dirty="0"/>
          </a:p>
        </p:txBody>
      </p:sp>
      <p:sp>
        <p:nvSpPr>
          <p:cNvPr id="4" name="Text 2"/>
          <p:cNvSpPr/>
          <p:nvPr/>
        </p:nvSpPr>
        <p:spPr>
          <a:xfrm>
            <a:off x="457200" y="899517"/>
            <a:ext cx="514350" cy="29170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29308"/>
            <a:ext cx="8229600" cy="536228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29308"/>
            <a:ext cx="28575" cy="536228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225" y="1268462"/>
            <a:ext cx="257770" cy="25777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742" y="1330979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9295" y="1229618"/>
            <a:ext cx="399029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90-Day Pilot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1029295" y="1426220"/>
            <a:ext cx="3990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complaint routing optimizer with priority agencies and baseline KPI measurement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457200" y="1751856"/>
            <a:ext cx="8229600" cy="536228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1751856"/>
            <a:ext cx="28575" cy="536228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7225" y="1891010"/>
            <a:ext cx="257770" cy="25777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42" y="195352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9295" y="1852166"/>
            <a:ext cx="332627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Joint Solution Design Sprint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1029295" y="2048768"/>
            <a:ext cx="33262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integration architecture with city operations and IT stakeholders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457200" y="2374404"/>
            <a:ext cx="8229600" cy="536228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" y="2374404"/>
            <a:ext cx="28575" cy="536228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57225" y="2513558"/>
            <a:ext cx="257770" cy="257770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742" y="2576075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9295" y="2474714"/>
            <a:ext cx="35319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UrbanPulse AI Roadmap Planning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1029295" y="2671316"/>
            <a:ext cx="35319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cross-agency scaling path and multi-model platform expansion strategy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45720" y="3111252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kern="0" spc="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we can help Nova Haven become: </a:t>
            </a:r>
            <a:r>
              <a:rPr lang="en-US" sz="960" b="1" kern="0" spc="2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Safer.</a:t>
            </a:r>
            <a:r>
              <a:rPr lang="en-US" sz="960" kern="0" spc="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b="1" kern="0" spc="2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Smarter.</a:t>
            </a:r>
            <a:r>
              <a:rPr lang="en-US" sz="960" kern="0" spc="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b="1" kern="0" spc="2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Responsive.</a:t>
            </a:r>
            <a:r>
              <a:rPr lang="en-US" sz="960" kern="0" spc="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b="1" kern="0" spc="20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Predictive.</a:t>
            </a:r>
            <a:endParaRPr lang="en-US" sz="960" dirty="0"/>
          </a:p>
        </p:txBody>
      </p:sp>
      <p:sp>
        <p:nvSpPr>
          <p:cNvPr id="24" name="Text 19"/>
          <p:cNvSpPr/>
          <p:nvPr/>
        </p:nvSpPr>
        <p:spPr>
          <a:xfrm>
            <a:off x="3039532" y="3779044"/>
            <a:ext cx="3064937" cy="563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13"/>
              </a:lnSpc>
              <a:buNone/>
            </a:pPr>
            <a:r>
              <a:rPr lang="en-US" sz="1690" b="1" kern="0" spc="-2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AI Operating System</a:t>
            </a:r>
            <a:br/>
            <a:r>
              <a:rPr lang="en-US" sz="1690" b="1" kern="0" spc="-2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the Future of Cities.</a:t>
            </a:r>
            <a:endParaRPr lang="en-US" sz="1690" dirty="0"/>
          </a:p>
        </p:txBody>
      </p:sp>
      <p:sp>
        <p:nvSpPr>
          <p:cNvPr id="25" name="Text 20"/>
          <p:cNvSpPr/>
          <p:nvPr/>
        </p:nvSpPr>
        <p:spPr>
          <a:xfrm>
            <a:off x="0" y="4788545"/>
            <a:ext cx="9144000" cy="354955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0" y="4788545"/>
            <a:ext cx="9144000" cy="9525"/>
          </a:xfrm>
          <a:prstGeom prst="rect">
            <a:avLst/>
          </a:prstGeom>
          <a:solidFill>
            <a:srgbClr val="DDE3E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913" y="4904417"/>
            <a:ext cx="176716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6332" y="4898380"/>
            <a:ext cx="492589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The recommendation is clear: begin now, prove value fast, and scale the platform.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1286</Words>
  <Application>Microsoft Office PowerPoint</Application>
  <PresentationFormat>On-screen Show (16:9)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Weiqun Zhu</cp:lastModifiedBy>
  <cp:revision>4</cp:revision>
  <dcterms:created xsi:type="dcterms:W3CDTF">2026-04-27T15:28:58Z</dcterms:created>
  <dcterms:modified xsi:type="dcterms:W3CDTF">2026-05-12T01:47:07Z</dcterms:modified>
</cp:coreProperties>
</file>